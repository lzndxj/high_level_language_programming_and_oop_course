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838" r:id="rId3"/>
    <p:sldId id="1014" r:id="rId4"/>
    <p:sldId id="1015" r:id="rId5"/>
    <p:sldId id="1017" r:id="rId6"/>
    <p:sldId id="1018" r:id="rId7"/>
    <p:sldId id="814" r:id="rId8"/>
    <p:sldId id="1019" r:id="rId9"/>
    <p:sldId id="1020" r:id="rId10"/>
    <p:sldId id="1021" r:id="rId11"/>
    <p:sldId id="815" r:id="rId12"/>
    <p:sldId id="1022" r:id="rId13"/>
    <p:sldId id="1023" r:id="rId14"/>
    <p:sldId id="102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E3FF"/>
    <a:srgbClr val="CB33AD"/>
    <a:srgbClr val="BD39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2E6EC-216D-470E-A96A-BC8CC8B96A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28A78-612C-405C-9C40-0619174AAB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67344-9CCA-4817-A165-2280803A3BB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E27D7-7FC2-48E5-AC23-EE005EF046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BEE40-6653-4306-94D9-CE901F87AD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08D2F-C807-4635-ADFC-DDA32FA08C2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667F2-D47F-4AFE-AD36-03B6E79727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831D1-1FD2-4C1F-81EF-D089EAA70A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96484-9390-436A-B97F-750A172083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5A884-3C3A-4699-8B3B-C69DDDD6951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CE23E-6955-41AF-80A9-A97169205E6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77E57CD3-3E80-4DCD-8FBA-A1013BE71655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、模仿第</a:t>
            </a:r>
            <a:r>
              <a:rPr lang="en-US" altLang="zh-CN" sz="1600" b="1" dirty="0">
                <a:latin typeface="+mn-ea"/>
              </a:rPr>
              <a:t>06</a:t>
            </a:r>
            <a:r>
              <a:rPr lang="zh-CN" altLang="en-US" sz="1600" b="1" dirty="0">
                <a:latin typeface="+mn-ea"/>
              </a:rPr>
              <a:t>模块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课件中</a:t>
            </a:r>
            <a:r>
              <a:rPr lang="en-US" altLang="zh-CN" sz="1600" b="1" dirty="0">
                <a:latin typeface="+mn-ea"/>
              </a:rPr>
              <a:t>(P.16-19/P.27-30)</a:t>
            </a:r>
            <a:r>
              <a:rPr lang="zh-CN" altLang="en-US" sz="1600" b="1" dirty="0">
                <a:latin typeface="+mn-ea"/>
              </a:rPr>
              <a:t>的样式，画出下列每小题每一步执行的内存分配及指向图示，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分析为什么得到最后的结果。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通过指针形参</a:t>
            </a:r>
            <a:r>
              <a:rPr lang="en-US" altLang="zh-CN" sz="1600" b="1" u="sng" dirty="0">
                <a:solidFill>
                  <a:srgbClr val="FF0000"/>
                </a:solidFill>
                <a:latin typeface="+mn-ea"/>
              </a:rPr>
              <a:t>S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和</a:t>
            </a:r>
            <a:r>
              <a:rPr lang="en-US" altLang="zh-CN" sz="1600" b="1" u="sng" dirty="0">
                <a:solidFill>
                  <a:srgbClr val="FF0000"/>
                </a:solidFill>
                <a:latin typeface="+mn-ea"/>
              </a:rPr>
              <a:t>L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间接修改了实参</a:t>
            </a:r>
            <a:r>
              <a:rPr lang="en-US" altLang="zh-CN" sz="1600" b="1" u="sng" dirty="0">
                <a:solidFill>
                  <a:srgbClr val="FF0000"/>
                </a:solidFill>
                <a:latin typeface="+mn-ea"/>
              </a:rPr>
              <a:t>s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和</a:t>
            </a:r>
            <a:r>
              <a:rPr lang="en-US" altLang="zh-CN" sz="1600" b="1" u="sng" dirty="0">
                <a:solidFill>
                  <a:srgbClr val="FF0000"/>
                </a:solidFill>
                <a:latin typeface="+mn-ea"/>
              </a:rPr>
              <a:t>l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的值，从而实现了同时返回周长和面积的功能。</a:t>
            </a:r>
            <a:endParaRPr lang="zh-CN" altLang="en-US" sz="1600" b="1" u="sng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交换的是形参指针</a:t>
            </a:r>
            <a:r>
              <a:rPr lang="en-US" altLang="zh-CN" sz="1600" b="1" u="sng" dirty="0">
                <a:solidFill>
                  <a:srgbClr val="FF0000"/>
                </a:solidFill>
                <a:latin typeface="+mn-ea"/>
              </a:rPr>
              <a:t>x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和</a:t>
            </a:r>
            <a:r>
              <a:rPr lang="en-US" altLang="zh-CN" sz="1600" b="1" u="sng" dirty="0">
                <a:solidFill>
                  <a:srgbClr val="FF0000"/>
                </a:solidFill>
                <a:latin typeface="+mn-ea"/>
              </a:rPr>
              <a:t>y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的值，而实参</a:t>
            </a:r>
            <a:r>
              <a:rPr lang="en-US" altLang="zh-CN" sz="1600" b="1" u="sng" dirty="0">
                <a:solidFill>
                  <a:srgbClr val="FF0000"/>
                </a:solidFill>
                <a:latin typeface="+mn-ea"/>
              </a:rPr>
              <a:t>i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和</a:t>
            </a:r>
            <a:r>
              <a:rPr lang="en-US" altLang="zh-CN" sz="1600" b="1" u="sng" dirty="0">
                <a:solidFill>
                  <a:srgbClr val="FF0000"/>
                </a:solidFill>
                <a:latin typeface="+mn-ea"/>
              </a:rPr>
              <a:t>j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的值未被修改。因此，</a:t>
            </a:r>
            <a:r>
              <a:rPr lang="en-US" altLang="zh-CN" sz="1600" b="1" u="sng" dirty="0">
                <a:solidFill>
                  <a:srgbClr val="FF0000"/>
                </a:solidFill>
                <a:latin typeface="+mn-ea"/>
              </a:rPr>
              <a:t>i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和</a:t>
            </a:r>
            <a:r>
              <a:rPr lang="en-US" altLang="zh-CN" sz="1600" b="1" u="sng" dirty="0">
                <a:solidFill>
                  <a:srgbClr val="FF0000"/>
                </a:solidFill>
                <a:latin typeface="+mn-ea"/>
              </a:rPr>
              <a:t>j</a:t>
            </a:r>
            <a:r>
              <a:rPr lang="zh-CN" altLang="en-US" sz="1600" b="1" u="sng" dirty="0">
                <a:solidFill>
                  <a:srgbClr val="FF0000"/>
                </a:solidFill>
                <a:latin typeface="+mn-ea"/>
              </a:rPr>
              <a:t>的值未交换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  <a:r>
              <a:rPr lang="en-US" altLang="zh-CN" sz="1600" b="1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int *t;</a:t>
            </a:r>
            <a:r>
              <a:rPr lang="zh-CN" altLang="en-US" sz="1600" b="1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未初始化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、每个语句要画一张内存状态图，每小题都是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张图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张初始内存分配图附件已给出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、不允许手写、手写后贴图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后在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文档作业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中提交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5.21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友情提醒：本周作业量不大，第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个大作业要在下周指针讲完后才能布置，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        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大家尽快把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VS2022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调试的文档作业做完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除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字符指针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"/"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引用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        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知识点外，其它已经全部讲过了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，千万不要卡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DDL!!!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75932" y="1017938"/>
            <a:ext cx="8856662" cy="4392217"/>
            <a:chOff x="1703388" y="2276872"/>
            <a:chExt cx="8856662" cy="4392217"/>
          </a:xfrm>
        </p:grpSpPr>
        <p:grpSp>
          <p:nvGrpSpPr>
            <p:cNvPr id="6" name="组合 5"/>
            <p:cNvGrpSpPr/>
            <p:nvPr/>
          </p:nvGrpSpPr>
          <p:grpSpPr>
            <a:xfrm>
              <a:off x="1703388" y="2276872"/>
              <a:ext cx="8856662" cy="4392217"/>
              <a:chOff x="1703388" y="2276872"/>
              <a:chExt cx="8856662" cy="4392217"/>
            </a:xfrm>
          </p:grpSpPr>
          <p:sp>
            <p:nvSpPr>
              <p:cNvPr id="5" name="矩形 4"/>
              <p:cNvSpPr/>
              <p:nvPr/>
            </p:nvSpPr>
            <p:spPr bwMode="auto">
              <a:xfrm>
                <a:off x="4943873" y="5530846"/>
                <a:ext cx="1187847" cy="63445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s=28.2743</a:t>
                </a:r>
                <a:endPara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l=18.8495</a:t>
                </a:r>
                <a:endPara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Rectangle 22"/>
              <p:cNvSpPr>
                <a:spLocks noChangeArrowheads="1"/>
              </p:cNvSpPr>
              <p:nvPr/>
            </p:nvSpPr>
            <p:spPr bwMode="auto">
              <a:xfrm>
                <a:off x="8877809" y="3396748"/>
                <a:ext cx="953269" cy="2667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1703388" y="2276872"/>
                <a:ext cx="8856662" cy="4392217"/>
                <a:chOff x="1703388" y="2276872"/>
                <a:chExt cx="8856662" cy="4392217"/>
              </a:xfrm>
            </p:grpSpPr>
            <p:sp>
              <p:nvSpPr>
                <p:cNvPr id="3" name="Rectangle 10"/>
                <p:cNvSpPr>
                  <a:spLocks noChangeArrowheads="1"/>
                </p:cNvSpPr>
                <p:nvPr/>
              </p:nvSpPr>
              <p:spPr bwMode="auto">
                <a:xfrm>
                  <a:off x="1703388" y="2276872"/>
                  <a:ext cx="8856662" cy="439221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#include &lt;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iostream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&gt;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using namespace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std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#define PI 3.14159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double SL(double R, double *L)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{   double S;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S = PI*R*R;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*L = 2*PI*R;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return S;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}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int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main()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{   double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s,l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, r=3;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s=SL(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r,&amp;l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);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&lt;&lt; "s=" &lt;&lt; s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&lt;&lt; "l=" &lt;&lt; l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}</a:t>
                  </a:r>
                  <a:endParaRPr kumimoji="1" lang="en-US" altLang="zh-CN" sz="1600" dirty="0">
                    <a:solidFill>
                      <a:srgbClr val="FF33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3958606" y="3792380"/>
                  <a:ext cx="3649563" cy="1148789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函数执行后同时得到周长及面积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</a:t>
                  </a: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周长：指针变量做形参方式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面积：函数返回值方式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注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: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函数的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return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只能带一个返回值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!!</a:t>
                  </a:r>
                  <a:endParaRPr kumimoji="1" lang="zh-CN" alt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8" name="组合 27"/>
                <p:cNvGrpSpPr/>
                <p:nvPr/>
              </p:nvGrpSpPr>
              <p:grpSpPr>
                <a:xfrm>
                  <a:off x="8117048" y="2457028"/>
                  <a:ext cx="2299433" cy="2196108"/>
                  <a:chOff x="6296620" y="1307232"/>
                  <a:chExt cx="2625665" cy="3615447"/>
                </a:xfrm>
              </p:grpSpPr>
              <p:grpSp>
                <p:nvGrpSpPr>
                  <p:cNvPr id="29" name="Group 4"/>
                  <p:cNvGrpSpPr/>
                  <p:nvPr/>
                </p:nvGrpSpPr>
                <p:grpSpPr bwMode="auto">
                  <a:xfrm>
                    <a:off x="6296620" y="2157375"/>
                    <a:ext cx="1155700" cy="609600"/>
                    <a:chOff x="2016" y="816"/>
                    <a:chExt cx="728" cy="384"/>
                  </a:xfrm>
                </p:grpSpPr>
                <p:sp>
                  <p:nvSpPr>
                    <p:cNvPr id="48" name="Rectangle 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816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9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816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0" name="组合 29"/>
                  <p:cNvGrpSpPr/>
                  <p:nvPr/>
                </p:nvGrpSpPr>
                <p:grpSpPr>
                  <a:xfrm>
                    <a:off x="7072984" y="1307232"/>
                    <a:ext cx="1066801" cy="609600"/>
                    <a:chOff x="6293384" y="2157375"/>
                    <a:chExt cx="1066801" cy="609600"/>
                  </a:xfrm>
                </p:grpSpPr>
                <p:sp>
                  <p:nvSpPr>
                    <p:cNvPr id="46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7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722" y="2157375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??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1" name="组合 30"/>
                  <p:cNvGrpSpPr/>
                  <p:nvPr/>
                </p:nvGrpSpPr>
                <p:grpSpPr>
                  <a:xfrm>
                    <a:off x="7855484" y="2157375"/>
                    <a:ext cx="1066801" cy="609600"/>
                    <a:chOff x="7855484" y="2157375"/>
                    <a:chExt cx="1066801" cy="609600"/>
                  </a:xfrm>
                </p:grpSpPr>
                <p:sp>
                  <p:nvSpPr>
                    <p:cNvPr id="44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5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2157375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??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3" name="Group 12"/>
                  <p:cNvGrpSpPr/>
                  <p:nvPr/>
                </p:nvGrpSpPr>
                <p:grpSpPr bwMode="auto">
                  <a:xfrm>
                    <a:off x="6296620" y="3398800"/>
                    <a:ext cx="1155700" cy="609600"/>
                    <a:chOff x="2016" y="638"/>
                    <a:chExt cx="728" cy="384"/>
                  </a:xfrm>
                </p:grpSpPr>
                <p:sp>
                  <p:nvSpPr>
                    <p:cNvPr id="42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638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3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638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4" name="组合 33"/>
                  <p:cNvGrpSpPr/>
                  <p:nvPr/>
                </p:nvGrpSpPr>
                <p:grpSpPr>
                  <a:xfrm>
                    <a:off x="7082433" y="4313079"/>
                    <a:ext cx="1066801" cy="609600"/>
                    <a:chOff x="6293384" y="3398800"/>
                    <a:chExt cx="1066801" cy="609600"/>
                  </a:xfrm>
                </p:grpSpPr>
                <p:sp>
                  <p:nvSpPr>
                    <p:cNvPr id="40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1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722" y="3398800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??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5" name="组合 34"/>
                  <p:cNvGrpSpPr/>
                  <p:nvPr/>
                </p:nvGrpSpPr>
                <p:grpSpPr>
                  <a:xfrm>
                    <a:off x="7855484" y="3398800"/>
                    <a:ext cx="1066801" cy="609600"/>
                    <a:chOff x="7855484" y="3398800"/>
                    <a:chExt cx="1066801" cy="609600"/>
                  </a:xfrm>
                </p:grpSpPr>
                <p:sp>
                  <p:nvSpPr>
                    <p:cNvPr id="38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9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3398800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36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7082433" y="2766975"/>
                    <a:ext cx="0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7" name="Lin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596846" y="2766975"/>
                    <a:ext cx="4763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cxnSp>
              <p:nvCxnSpPr>
                <p:cNvPr id="50" name="直接连接符 49"/>
                <p:cNvCxnSpPr/>
                <p:nvPr/>
              </p:nvCxnSpPr>
              <p:spPr bwMode="auto">
                <a:xfrm>
                  <a:off x="7545825" y="3525359"/>
                  <a:ext cx="752650" cy="0"/>
                </a:xfrm>
                <a:prstGeom prst="line">
                  <a:avLst/>
                </a:prstGeom>
                <a:solidFill>
                  <a:schemeClr val="accent1"/>
                </a:solidFill>
                <a:ln w="76200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1" name="矩形 50"/>
                <p:cNvSpPr/>
                <p:nvPr/>
              </p:nvSpPr>
              <p:spPr bwMode="auto">
                <a:xfrm>
                  <a:off x="7513946" y="3023725"/>
                  <a:ext cx="661449" cy="335006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main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7635372" y="3659963"/>
                  <a:ext cx="406336" cy="269644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SL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993553" y="5096543"/>
                  <a:ext cx="2349060" cy="1080120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初始内存分配如图所示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请自行画出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SL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中三句话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执行时内存的变化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理解最后的输出结果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59" name="直接箭头连接符 58"/>
                <p:cNvCxnSpPr>
                  <a:stCxn id="55" idx="1"/>
                </p:cNvCxnSpPr>
                <p:nvPr/>
              </p:nvCxnSpPr>
              <p:spPr bwMode="auto">
                <a:xfrm flipH="1" flipV="1">
                  <a:off x="3503713" y="4768427"/>
                  <a:ext cx="4489840" cy="86817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57" name="矩形 56"/>
            <p:cNvSpPr/>
            <p:nvPr/>
          </p:nvSpPr>
          <p:spPr bwMode="auto">
            <a:xfrm>
              <a:off x="2063553" y="4097781"/>
              <a:ext cx="1440160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32422" y="1233203"/>
            <a:ext cx="8856662" cy="4392217"/>
            <a:chOff x="1703388" y="2276872"/>
            <a:chExt cx="8856662" cy="4392217"/>
          </a:xfrm>
        </p:grpSpPr>
        <p:grpSp>
          <p:nvGrpSpPr>
            <p:cNvPr id="6" name="组合 5"/>
            <p:cNvGrpSpPr/>
            <p:nvPr/>
          </p:nvGrpSpPr>
          <p:grpSpPr>
            <a:xfrm>
              <a:off x="1703388" y="2276872"/>
              <a:ext cx="8856662" cy="4392217"/>
              <a:chOff x="1703388" y="2276872"/>
              <a:chExt cx="8856662" cy="4392217"/>
            </a:xfrm>
          </p:grpSpPr>
          <p:sp>
            <p:nvSpPr>
              <p:cNvPr id="5" name="矩形 4"/>
              <p:cNvSpPr/>
              <p:nvPr/>
            </p:nvSpPr>
            <p:spPr bwMode="auto">
              <a:xfrm>
                <a:off x="4943873" y="5530846"/>
                <a:ext cx="1187847" cy="63445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s=28.2743</a:t>
                </a:r>
                <a:endPara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l=18.8495</a:t>
                </a:r>
                <a:endPara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Rectangle 22"/>
              <p:cNvSpPr>
                <a:spLocks noChangeArrowheads="1"/>
              </p:cNvSpPr>
              <p:nvPr/>
            </p:nvSpPr>
            <p:spPr bwMode="auto">
              <a:xfrm>
                <a:off x="8877809" y="3396748"/>
                <a:ext cx="953269" cy="2667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1703388" y="2276872"/>
                <a:ext cx="8856662" cy="4392217"/>
                <a:chOff x="1703388" y="2276872"/>
                <a:chExt cx="8856662" cy="4392217"/>
              </a:xfrm>
            </p:grpSpPr>
            <p:sp>
              <p:nvSpPr>
                <p:cNvPr id="3" name="Rectangle 10"/>
                <p:cNvSpPr>
                  <a:spLocks noChangeArrowheads="1"/>
                </p:cNvSpPr>
                <p:nvPr/>
              </p:nvSpPr>
              <p:spPr bwMode="auto">
                <a:xfrm>
                  <a:off x="1703388" y="2276872"/>
                  <a:ext cx="8856662" cy="439221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#include &lt;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iostream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&gt;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using namespace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std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#define PI 3.14159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double SL(double R, double *L)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{   double S;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S = PI*R*R;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*L = 2*PI*R;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return S;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}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int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main()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{   double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s,l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, r=3;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s=SL(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r,&amp;l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);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&lt;&lt; "s=" &lt;&lt; s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&lt;&lt; "l=" &lt;&lt; l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}</a:t>
                  </a:r>
                  <a:endParaRPr kumimoji="1" lang="en-US" altLang="zh-CN" sz="1600" dirty="0">
                    <a:solidFill>
                      <a:srgbClr val="FF33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3958606" y="3792380"/>
                  <a:ext cx="3649563" cy="1148789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函数执行后同时得到周长及面积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</a:t>
                  </a: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周长：指针变量做形参方式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面积：函数返回值方式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注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: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函数的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return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只能带一个返回值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!!</a:t>
                  </a:r>
                  <a:endParaRPr kumimoji="1" lang="zh-CN" alt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8" name="组合 27"/>
                <p:cNvGrpSpPr/>
                <p:nvPr/>
              </p:nvGrpSpPr>
              <p:grpSpPr>
                <a:xfrm>
                  <a:off x="8117048" y="2457028"/>
                  <a:ext cx="2299433" cy="2196108"/>
                  <a:chOff x="6296620" y="1307232"/>
                  <a:chExt cx="2625665" cy="3615447"/>
                </a:xfrm>
              </p:grpSpPr>
              <p:grpSp>
                <p:nvGrpSpPr>
                  <p:cNvPr id="29" name="Group 4"/>
                  <p:cNvGrpSpPr/>
                  <p:nvPr/>
                </p:nvGrpSpPr>
                <p:grpSpPr bwMode="auto">
                  <a:xfrm>
                    <a:off x="6296620" y="2157375"/>
                    <a:ext cx="1155700" cy="609600"/>
                    <a:chOff x="2016" y="816"/>
                    <a:chExt cx="728" cy="384"/>
                  </a:xfrm>
                </p:grpSpPr>
                <p:sp>
                  <p:nvSpPr>
                    <p:cNvPr id="48" name="Rectangle 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816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9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816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0" name="组合 29"/>
                  <p:cNvGrpSpPr/>
                  <p:nvPr/>
                </p:nvGrpSpPr>
                <p:grpSpPr>
                  <a:xfrm>
                    <a:off x="7072984" y="1307232"/>
                    <a:ext cx="1066801" cy="609600"/>
                    <a:chOff x="6293384" y="2157375"/>
                    <a:chExt cx="1066801" cy="609600"/>
                  </a:xfrm>
                </p:grpSpPr>
                <p:sp>
                  <p:nvSpPr>
                    <p:cNvPr id="46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7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722" y="2157375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??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1" name="组合 30"/>
                  <p:cNvGrpSpPr/>
                  <p:nvPr/>
                </p:nvGrpSpPr>
                <p:grpSpPr>
                  <a:xfrm>
                    <a:off x="7855484" y="2157375"/>
                    <a:ext cx="1066801" cy="609600"/>
                    <a:chOff x="7855484" y="2157375"/>
                    <a:chExt cx="1066801" cy="609600"/>
                  </a:xfrm>
                </p:grpSpPr>
                <p:sp>
                  <p:nvSpPr>
                    <p:cNvPr id="44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5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2157375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??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3" name="Group 12"/>
                  <p:cNvGrpSpPr/>
                  <p:nvPr/>
                </p:nvGrpSpPr>
                <p:grpSpPr bwMode="auto">
                  <a:xfrm>
                    <a:off x="6296620" y="3398800"/>
                    <a:ext cx="1155700" cy="609600"/>
                    <a:chOff x="2016" y="638"/>
                    <a:chExt cx="728" cy="384"/>
                  </a:xfrm>
                </p:grpSpPr>
                <p:sp>
                  <p:nvSpPr>
                    <p:cNvPr id="42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638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3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638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4" name="组合 33"/>
                  <p:cNvGrpSpPr/>
                  <p:nvPr/>
                </p:nvGrpSpPr>
                <p:grpSpPr>
                  <a:xfrm>
                    <a:off x="7082433" y="4313079"/>
                    <a:ext cx="1379123" cy="609600"/>
                    <a:chOff x="6293384" y="3398800"/>
                    <a:chExt cx="1379123" cy="609600"/>
                  </a:xfrm>
                </p:grpSpPr>
                <p:sp>
                  <p:nvSpPr>
                    <p:cNvPr id="40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1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411" y="3398800"/>
                      <a:ext cx="965096" cy="609468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28.2743</a:t>
                      </a:r>
                      <a:endParaRPr kumimoji="1" lang="en-US" altLang="zh-CN" sz="1600" b="1" dirty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5" name="组合 34"/>
                  <p:cNvGrpSpPr/>
                  <p:nvPr/>
                </p:nvGrpSpPr>
                <p:grpSpPr>
                  <a:xfrm>
                    <a:off x="7855484" y="3398800"/>
                    <a:ext cx="1066801" cy="609600"/>
                    <a:chOff x="7855484" y="3398800"/>
                    <a:chExt cx="1066801" cy="609600"/>
                  </a:xfrm>
                </p:grpSpPr>
                <p:sp>
                  <p:nvSpPr>
                    <p:cNvPr id="38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9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3398800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36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7082433" y="2766975"/>
                    <a:ext cx="0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7" name="Lin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596846" y="2766975"/>
                    <a:ext cx="4763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cxnSp>
              <p:nvCxnSpPr>
                <p:cNvPr id="50" name="直接连接符 49"/>
                <p:cNvCxnSpPr/>
                <p:nvPr/>
              </p:nvCxnSpPr>
              <p:spPr bwMode="auto">
                <a:xfrm>
                  <a:off x="7545825" y="3525359"/>
                  <a:ext cx="752650" cy="0"/>
                </a:xfrm>
                <a:prstGeom prst="line">
                  <a:avLst/>
                </a:prstGeom>
                <a:solidFill>
                  <a:schemeClr val="accent1"/>
                </a:solidFill>
                <a:ln w="76200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1" name="矩形 50"/>
                <p:cNvSpPr/>
                <p:nvPr/>
              </p:nvSpPr>
              <p:spPr bwMode="auto">
                <a:xfrm>
                  <a:off x="7513946" y="3023725"/>
                  <a:ext cx="661449" cy="335006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main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7635372" y="3659963"/>
                  <a:ext cx="406336" cy="269644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SL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993553" y="5096543"/>
                  <a:ext cx="2349060" cy="1080120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初始内存分配如图所示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请自行画出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SL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中三句话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执行时内存的变化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理解最后的输出结果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59" name="直接箭头连接符 58"/>
                <p:cNvCxnSpPr>
                  <a:stCxn id="55" idx="1"/>
                </p:cNvCxnSpPr>
                <p:nvPr/>
              </p:nvCxnSpPr>
              <p:spPr bwMode="auto">
                <a:xfrm flipH="1" flipV="1">
                  <a:off x="3503713" y="4768427"/>
                  <a:ext cx="4489840" cy="86817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57" name="矩形 56"/>
            <p:cNvSpPr/>
            <p:nvPr/>
          </p:nvSpPr>
          <p:spPr bwMode="auto">
            <a:xfrm>
              <a:off x="2063553" y="4097781"/>
              <a:ext cx="1440160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 flipV="1">
            <a:off x="929005" y="3281680"/>
            <a:ext cx="1045845" cy="6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直接箭头连接符 7"/>
          <p:cNvCxnSpPr/>
          <p:nvPr/>
        </p:nvCxnSpPr>
        <p:spPr>
          <a:xfrm>
            <a:off x="2106295" y="3228975"/>
            <a:ext cx="5353685" cy="1346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32422" y="1233203"/>
            <a:ext cx="9189720" cy="4392295"/>
            <a:chOff x="1703388" y="2276872"/>
            <a:chExt cx="9189720" cy="4392295"/>
          </a:xfrm>
        </p:grpSpPr>
        <p:grpSp>
          <p:nvGrpSpPr>
            <p:cNvPr id="6" name="组合 5"/>
            <p:cNvGrpSpPr/>
            <p:nvPr/>
          </p:nvGrpSpPr>
          <p:grpSpPr>
            <a:xfrm>
              <a:off x="1703388" y="2276872"/>
              <a:ext cx="9189720" cy="4392295"/>
              <a:chOff x="1703388" y="2276872"/>
              <a:chExt cx="9189720" cy="4392295"/>
            </a:xfrm>
          </p:grpSpPr>
          <p:sp>
            <p:nvSpPr>
              <p:cNvPr id="5" name="矩形 4"/>
              <p:cNvSpPr/>
              <p:nvPr/>
            </p:nvSpPr>
            <p:spPr bwMode="auto">
              <a:xfrm>
                <a:off x="4943873" y="5530846"/>
                <a:ext cx="1187847" cy="63445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s=28.2743</a:t>
                </a:r>
                <a:endPara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l=18.8495</a:t>
                </a:r>
                <a:endPara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Rectangle 22"/>
              <p:cNvSpPr>
                <a:spLocks noChangeArrowheads="1"/>
              </p:cNvSpPr>
              <p:nvPr/>
            </p:nvSpPr>
            <p:spPr bwMode="auto">
              <a:xfrm>
                <a:off x="8877809" y="3396748"/>
                <a:ext cx="953269" cy="2667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1703388" y="2276872"/>
                <a:ext cx="9189720" cy="4392295"/>
                <a:chOff x="1703388" y="2276872"/>
                <a:chExt cx="9189720" cy="4392295"/>
              </a:xfrm>
            </p:grpSpPr>
            <p:sp>
              <p:nvSpPr>
                <p:cNvPr id="3" name="Rectangle 10"/>
                <p:cNvSpPr>
                  <a:spLocks noChangeArrowheads="1"/>
                </p:cNvSpPr>
                <p:nvPr/>
              </p:nvSpPr>
              <p:spPr bwMode="auto">
                <a:xfrm>
                  <a:off x="1703388" y="2276872"/>
                  <a:ext cx="9189720" cy="439229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#include &lt;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iostream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&gt;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using namespace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std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#define PI 3.14159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double SL(double R, double *L)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{   double S;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S = PI*R*R;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*L = 2*PI*R;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return S;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}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int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main()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{   double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s,l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, r=3;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s=SL(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r,&amp;l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);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&lt;&lt; "s=" &lt;&lt; s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&lt;&lt; "l=" &lt;&lt; l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}</a:t>
                  </a:r>
                  <a:endParaRPr kumimoji="1" lang="en-US" altLang="zh-CN" sz="1600" dirty="0">
                    <a:solidFill>
                      <a:srgbClr val="FF33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3958606" y="3792380"/>
                  <a:ext cx="3649563" cy="1148789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函数执行后同时得到周长及面积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</a:t>
                  </a: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周长：指针变量做形参方式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面积：函数返回值方式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注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: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函数的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return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只能带一个返回值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!!</a:t>
                  </a:r>
                  <a:endParaRPr kumimoji="1" lang="zh-CN" alt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8" name="组合 27"/>
                <p:cNvGrpSpPr/>
                <p:nvPr/>
              </p:nvGrpSpPr>
              <p:grpSpPr>
                <a:xfrm>
                  <a:off x="8117048" y="2457028"/>
                  <a:ext cx="2590729" cy="2196108"/>
                  <a:chOff x="6296620" y="1307232"/>
                  <a:chExt cx="2958289" cy="3615447"/>
                </a:xfrm>
              </p:grpSpPr>
              <p:grpSp>
                <p:nvGrpSpPr>
                  <p:cNvPr id="29" name="Group 4"/>
                  <p:cNvGrpSpPr/>
                  <p:nvPr/>
                </p:nvGrpSpPr>
                <p:grpSpPr bwMode="auto">
                  <a:xfrm>
                    <a:off x="6296620" y="2157375"/>
                    <a:ext cx="1155700" cy="609600"/>
                    <a:chOff x="2016" y="816"/>
                    <a:chExt cx="728" cy="384"/>
                  </a:xfrm>
                </p:grpSpPr>
                <p:sp>
                  <p:nvSpPr>
                    <p:cNvPr id="48" name="Rectangle 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816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9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816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0" name="组合 29"/>
                  <p:cNvGrpSpPr/>
                  <p:nvPr/>
                </p:nvGrpSpPr>
                <p:grpSpPr>
                  <a:xfrm>
                    <a:off x="7072984" y="1307232"/>
                    <a:ext cx="1066801" cy="609600"/>
                    <a:chOff x="6293384" y="2157375"/>
                    <a:chExt cx="1066801" cy="609600"/>
                  </a:xfrm>
                </p:grpSpPr>
                <p:sp>
                  <p:nvSpPr>
                    <p:cNvPr id="46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7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722" y="2157375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??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1" name="组合 30"/>
                  <p:cNvGrpSpPr/>
                  <p:nvPr/>
                </p:nvGrpSpPr>
                <p:grpSpPr>
                  <a:xfrm>
                    <a:off x="7855484" y="2157375"/>
                    <a:ext cx="1399425" cy="609600"/>
                    <a:chOff x="7855484" y="2157375"/>
                    <a:chExt cx="1399425" cy="609600"/>
                  </a:xfrm>
                </p:grpSpPr>
                <p:sp>
                  <p:nvSpPr>
                    <p:cNvPr id="44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5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511" y="2157375"/>
                      <a:ext cx="985398" cy="609468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18.8495</a:t>
                      </a:r>
                      <a:endParaRPr kumimoji="1" lang="en-US" altLang="zh-CN" sz="1600" b="1" dirty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3" name="Group 12"/>
                  <p:cNvGrpSpPr/>
                  <p:nvPr/>
                </p:nvGrpSpPr>
                <p:grpSpPr bwMode="auto">
                  <a:xfrm>
                    <a:off x="6296620" y="3398800"/>
                    <a:ext cx="1155700" cy="609600"/>
                    <a:chOff x="2016" y="638"/>
                    <a:chExt cx="728" cy="384"/>
                  </a:xfrm>
                </p:grpSpPr>
                <p:sp>
                  <p:nvSpPr>
                    <p:cNvPr id="42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638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3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638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4" name="组合 33"/>
                  <p:cNvGrpSpPr/>
                  <p:nvPr/>
                </p:nvGrpSpPr>
                <p:grpSpPr>
                  <a:xfrm>
                    <a:off x="7082433" y="4313079"/>
                    <a:ext cx="1379123" cy="609600"/>
                    <a:chOff x="6293384" y="3398800"/>
                    <a:chExt cx="1379123" cy="609600"/>
                  </a:xfrm>
                </p:grpSpPr>
                <p:sp>
                  <p:nvSpPr>
                    <p:cNvPr id="40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1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411" y="3398800"/>
                      <a:ext cx="965096" cy="609468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28.2743</a:t>
                      </a:r>
                      <a:endParaRPr kumimoji="1" lang="en-US" altLang="zh-CN" sz="1600" b="1" dirty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5" name="组合 34"/>
                  <p:cNvGrpSpPr/>
                  <p:nvPr/>
                </p:nvGrpSpPr>
                <p:grpSpPr>
                  <a:xfrm>
                    <a:off x="7855484" y="3398800"/>
                    <a:ext cx="1066801" cy="609600"/>
                    <a:chOff x="7855484" y="3398800"/>
                    <a:chExt cx="1066801" cy="609600"/>
                  </a:xfrm>
                </p:grpSpPr>
                <p:sp>
                  <p:nvSpPr>
                    <p:cNvPr id="38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9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3398800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36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7082433" y="2766975"/>
                    <a:ext cx="0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7" name="Lin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596846" y="2766975"/>
                    <a:ext cx="4763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cxnSp>
              <p:nvCxnSpPr>
                <p:cNvPr id="50" name="直接连接符 49"/>
                <p:cNvCxnSpPr/>
                <p:nvPr/>
              </p:nvCxnSpPr>
              <p:spPr bwMode="auto">
                <a:xfrm>
                  <a:off x="7545825" y="3525359"/>
                  <a:ext cx="752650" cy="0"/>
                </a:xfrm>
                <a:prstGeom prst="line">
                  <a:avLst/>
                </a:prstGeom>
                <a:solidFill>
                  <a:schemeClr val="accent1"/>
                </a:solidFill>
                <a:ln w="76200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1" name="矩形 50"/>
                <p:cNvSpPr/>
                <p:nvPr/>
              </p:nvSpPr>
              <p:spPr bwMode="auto">
                <a:xfrm>
                  <a:off x="7513946" y="3023725"/>
                  <a:ext cx="661449" cy="335006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main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7635372" y="3659963"/>
                  <a:ext cx="406336" cy="269644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SL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993553" y="5096543"/>
                  <a:ext cx="2349060" cy="1080120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初始内存分配如图所示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请自行画出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SL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中三句话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执行时内存的变化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理解最后的输出结果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59" name="直接箭头连接符 58"/>
                <p:cNvCxnSpPr>
                  <a:stCxn id="55" idx="1"/>
                </p:cNvCxnSpPr>
                <p:nvPr/>
              </p:nvCxnSpPr>
              <p:spPr bwMode="auto">
                <a:xfrm flipH="1" flipV="1">
                  <a:off x="3503713" y="4768427"/>
                  <a:ext cx="4489840" cy="86817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57" name="矩形 56"/>
            <p:cNvSpPr/>
            <p:nvPr/>
          </p:nvSpPr>
          <p:spPr bwMode="auto">
            <a:xfrm>
              <a:off x="2063553" y="4097781"/>
              <a:ext cx="1440160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 flipV="1">
            <a:off x="929005" y="3545205"/>
            <a:ext cx="1171575" cy="57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直接箭头连接符 8"/>
          <p:cNvCxnSpPr/>
          <p:nvPr/>
        </p:nvCxnSpPr>
        <p:spPr>
          <a:xfrm flipV="1">
            <a:off x="2170430" y="2292985"/>
            <a:ext cx="6033135" cy="12522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32422" y="1233203"/>
            <a:ext cx="9189720" cy="4392295"/>
            <a:chOff x="1703388" y="2276872"/>
            <a:chExt cx="9189720" cy="4392295"/>
          </a:xfrm>
        </p:grpSpPr>
        <p:grpSp>
          <p:nvGrpSpPr>
            <p:cNvPr id="6" name="组合 5"/>
            <p:cNvGrpSpPr/>
            <p:nvPr/>
          </p:nvGrpSpPr>
          <p:grpSpPr>
            <a:xfrm>
              <a:off x="1703388" y="2276872"/>
              <a:ext cx="9189720" cy="4392295"/>
              <a:chOff x="1703388" y="2276872"/>
              <a:chExt cx="9189720" cy="4392295"/>
            </a:xfrm>
          </p:grpSpPr>
          <p:sp>
            <p:nvSpPr>
              <p:cNvPr id="5" name="矩形 4"/>
              <p:cNvSpPr/>
              <p:nvPr/>
            </p:nvSpPr>
            <p:spPr bwMode="auto">
              <a:xfrm>
                <a:off x="4943873" y="5530846"/>
                <a:ext cx="1187847" cy="63445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s=28.2743</a:t>
                </a:r>
                <a:endPara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l=18.8495</a:t>
                </a:r>
                <a:endPara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Rectangle 22"/>
              <p:cNvSpPr>
                <a:spLocks noChangeArrowheads="1"/>
              </p:cNvSpPr>
              <p:nvPr/>
            </p:nvSpPr>
            <p:spPr bwMode="auto">
              <a:xfrm>
                <a:off x="8877809" y="3396748"/>
                <a:ext cx="953269" cy="2667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1703388" y="2276872"/>
                <a:ext cx="9189720" cy="4392295"/>
                <a:chOff x="1703388" y="2276872"/>
                <a:chExt cx="9189720" cy="4392295"/>
              </a:xfrm>
            </p:grpSpPr>
            <p:sp>
              <p:nvSpPr>
                <p:cNvPr id="3" name="Rectangle 10"/>
                <p:cNvSpPr>
                  <a:spLocks noChangeArrowheads="1"/>
                </p:cNvSpPr>
                <p:nvPr/>
              </p:nvSpPr>
              <p:spPr bwMode="auto">
                <a:xfrm>
                  <a:off x="1703388" y="2276872"/>
                  <a:ext cx="9189720" cy="439229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#include &lt;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iostream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&gt;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using namespace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std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#define PI 3.14159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double SL(double R, double *L)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{   double S;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S = PI*R*R;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*L = 2*PI*R;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return S;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}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int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main()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{   double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s,l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, r=3;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s=SL(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r,&amp;l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);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&lt;&lt; "s=" &lt;&lt; s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&lt;&lt; "l=" &lt;&lt; l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;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}</a:t>
                  </a:r>
                  <a:endParaRPr kumimoji="1" lang="en-US" altLang="zh-CN" sz="1600" dirty="0">
                    <a:solidFill>
                      <a:srgbClr val="FF33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3958606" y="3792380"/>
                  <a:ext cx="3649563" cy="1148789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函数执行后同时得到周长及面积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</a:t>
                  </a: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周长：指针变量做形参方式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面积：函数返回值方式</a:t>
                  </a:r>
                  <a:endPara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注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: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函数的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return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只能带一个返回值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!!</a:t>
                  </a:r>
                  <a:endParaRPr kumimoji="1" lang="zh-CN" alt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8" name="组合 27"/>
                <p:cNvGrpSpPr/>
                <p:nvPr/>
              </p:nvGrpSpPr>
              <p:grpSpPr>
                <a:xfrm>
                  <a:off x="8117048" y="2457028"/>
                  <a:ext cx="2590729" cy="2196108"/>
                  <a:chOff x="6296620" y="1307232"/>
                  <a:chExt cx="2958289" cy="3615447"/>
                </a:xfrm>
              </p:grpSpPr>
              <p:grpSp>
                <p:nvGrpSpPr>
                  <p:cNvPr id="29" name="Group 4"/>
                  <p:cNvGrpSpPr/>
                  <p:nvPr/>
                </p:nvGrpSpPr>
                <p:grpSpPr bwMode="auto">
                  <a:xfrm>
                    <a:off x="6296620" y="2157375"/>
                    <a:ext cx="1155700" cy="609600"/>
                    <a:chOff x="2016" y="816"/>
                    <a:chExt cx="728" cy="384"/>
                  </a:xfrm>
                </p:grpSpPr>
                <p:sp>
                  <p:nvSpPr>
                    <p:cNvPr id="48" name="Rectangle 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816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9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816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0" name="组合 29"/>
                  <p:cNvGrpSpPr/>
                  <p:nvPr/>
                </p:nvGrpSpPr>
                <p:grpSpPr>
                  <a:xfrm>
                    <a:off x="7072984" y="1307232"/>
                    <a:ext cx="1524141" cy="609600"/>
                    <a:chOff x="6293384" y="2157375"/>
                    <a:chExt cx="1524141" cy="609600"/>
                  </a:xfrm>
                </p:grpSpPr>
                <p:sp>
                  <p:nvSpPr>
                    <p:cNvPr id="46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7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411" y="2157375"/>
                      <a:ext cx="1110114" cy="609468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28.2743</a:t>
                      </a:r>
                      <a:endParaRPr kumimoji="1" lang="en-US" altLang="zh-CN" sz="1600" b="1" dirty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1" name="组合 30"/>
                  <p:cNvGrpSpPr/>
                  <p:nvPr/>
                </p:nvGrpSpPr>
                <p:grpSpPr>
                  <a:xfrm>
                    <a:off x="7855484" y="2157375"/>
                    <a:ext cx="1399425" cy="609600"/>
                    <a:chOff x="7855484" y="2157375"/>
                    <a:chExt cx="1399425" cy="609600"/>
                  </a:xfrm>
                </p:grpSpPr>
                <p:sp>
                  <p:nvSpPr>
                    <p:cNvPr id="44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5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511" y="2157375"/>
                      <a:ext cx="985398" cy="609468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18.8495</a:t>
                      </a:r>
                      <a:endParaRPr kumimoji="1" lang="en-US" altLang="zh-CN" sz="1600" b="1" dirty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3" name="Group 12"/>
                  <p:cNvGrpSpPr/>
                  <p:nvPr/>
                </p:nvGrpSpPr>
                <p:grpSpPr bwMode="auto">
                  <a:xfrm>
                    <a:off x="6296620" y="3398800"/>
                    <a:ext cx="1155700" cy="609600"/>
                    <a:chOff x="2016" y="638"/>
                    <a:chExt cx="728" cy="384"/>
                  </a:xfrm>
                </p:grpSpPr>
                <p:sp>
                  <p:nvSpPr>
                    <p:cNvPr id="42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638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3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638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4" name="组合 33"/>
                  <p:cNvGrpSpPr/>
                  <p:nvPr/>
                </p:nvGrpSpPr>
                <p:grpSpPr>
                  <a:xfrm>
                    <a:off x="7082433" y="4313079"/>
                    <a:ext cx="1379123" cy="609600"/>
                    <a:chOff x="6293384" y="3398800"/>
                    <a:chExt cx="1379123" cy="609600"/>
                  </a:xfrm>
                </p:grpSpPr>
                <p:sp>
                  <p:nvSpPr>
                    <p:cNvPr id="40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1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411" y="3398800"/>
                      <a:ext cx="965096" cy="609468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28.2743</a:t>
                      </a:r>
                      <a:endParaRPr kumimoji="1" lang="en-US" altLang="zh-CN" sz="1600" b="1" dirty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5" name="组合 34"/>
                  <p:cNvGrpSpPr/>
                  <p:nvPr/>
                </p:nvGrpSpPr>
                <p:grpSpPr>
                  <a:xfrm>
                    <a:off x="7855484" y="3398800"/>
                    <a:ext cx="1066801" cy="609600"/>
                    <a:chOff x="7855484" y="3398800"/>
                    <a:chExt cx="1066801" cy="609600"/>
                  </a:xfrm>
                </p:grpSpPr>
                <p:sp>
                  <p:nvSpPr>
                    <p:cNvPr id="38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9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3398800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&amp;l</a:t>
                      </a:r>
                      <a:endPara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36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7082433" y="2766975"/>
                    <a:ext cx="0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7" name="Lin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596846" y="2766975"/>
                    <a:ext cx="4763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cxnSp>
              <p:nvCxnSpPr>
                <p:cNvPr id="50" name="直接连接符 49"/>
                <p:cNvCxnSpPr/>
                <p:nvPr/>
              </p:nvCxnSpPr>
              <p:spPr bwMode="auto">
                <a:xfrm>
                  <a:off x="7545825" y="3525359"/>
                  <a:ext cx="752650" cy="0"/>
                </a:xfrm>
                <a:prstGeom prst="line">
                  <a:avLst/>
                </a:prstGeom>
                <a:solidFill>
                  <a:schemeClr val="accent1"/>
                </a:solidFill>
                <a:ln w="76200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1" name="矩形 50"/>
                <p:cNvSpPr/>
                <p:nvPr/>
              </p:nvSpPr>
              <p:spPr bwMode="auto">
                <a:xfrm>
                  <a:off x="7513946" y="3023725"/>
                  <a:ext cx="661449" cy="335006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main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7635372" y="3659963"/>
                  <a:ext cx="406336" cy="269644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SL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993553" y="5096543"/>
                  <a:ext cx="2349060" cy="1080120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初始内存分配如图所示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请自行画出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SL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中三句话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执行时内存的变化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理解最后的输出结果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59" name="直接箭头连接符 58"/>
                <p:cNvCxnSpPr>
                  <a:stCxn id="55" idx="1"/>
                </p:cNvCxnSpPr>
                <p:nvPr/>
              </p:nvCxnSpPr>
              <p:spPr bwMode="auto">
                <a:xfrm flipH="1" flipV="1">
                  <a:off x="3503713" y="4768427"/>
                  <a:ext cx="4489840" cy="86817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57" name="矩形 56"/>
            <p:cNvSpPr/>
            <p:nvPr/>
          </p:nvSpPr>
          <p:spPr bwMode="auto">
            <a:xfrm>
              <a:off x="2063553" y="4097781"/>
              <a:ext cx="1440160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 flipV="1">
            <a:off x="792480" y="3820160"/>
            <a:ext cx="974090" cy="177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直接箭头连接符 7"/>
          <p:cNvCxnSpPr/>
          <p:nvPr/>
        </p:nvCxnSpPr>
        <p:spPr>
          <a:xfrm flipV="1">
            <a:off x="1913255" y="1584960"/>
            <a:ext cx="5494655" cy="2159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932" y="1017938"/>
            <a:ext cx="8856662" cy="3816152"/>
            <a:chOff x="1703388" y="2852936"/>
            <a:chExt cx="8856662" cy="3816152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2852936"/>
              <a:ext cx="8856662" cy="3816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*y)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t = x;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x = y;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y = 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main()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=10, j=15;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,&amp;j);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" name="Group 3"/>
            <p:cNvGrpSpPr/>
            <p:nvPr/>
          </p:nvGrpSpPr>
          <p:grpSpPr bwMode="auto">
            <a:xfrm>
              <a:off x="6744073" y="2998441"/>
              <a:ext cx="3684811" cy="2292651"/>
              <a:chOff x="2016" y="816"/>
              <a:chExt cx="3312" cy="1784"/>
            </a:xfrm>
          </p:grpSpPr>
          <p:grpSp>
            <p:nvGrpSpPr>
              <p:cNvPr id="5" name="Group 4"/>
              <p:cNvGrpSpPr/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25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" name="Group 8"/>
              <p:cNvGrpSpPr/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22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j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15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" name="Group 12"/>
              <p:cNvGrpSpPr/>
              <p:nvPr/>
            </p:nvGrpSpPr>
            <p:grpSpPr bwMode="auto">
              <a:xfrm>
                <a:off x="2016" y="1655"/>
                <a:ext cx="1440" cy="384"/>
                <a:chOff x="2016" y="695"/>
                <a:chExt cx="1440" cy="384"/>
              </a:xfrm>
            </p:grpSpPr>
            <p:sp>
              <p:nvSpPr>
                <p:cNvPr id="19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695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x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695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695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3003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" name="Group 16"/>
              <p:cNvGrpSpPr/>
              <p:nvPr/>
            </p:nvGrpSpPr>
            <p:grpSpPr bwMode="auto">
              <a:xfrm>
                <a:off x="3888" y="1664"/>
                <a:ext cx="1440" cy="384"/>
                <a:chOff x="2016" y="704"/>
                <a:chExt cx="1440" cy="384"/>
              </a:xfrm>
            </p:grpSpPr>
            <p:sp>
              <p:nvSpPr>
                <p:cNvPr id="16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70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y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70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70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" name="Line 20"/>
              <p:cNvSpPr>
                <a:spLocks noChangeShapeType="1"/>
              </p:cNvSpPr>
              <p:nvPr/>
            </p:nvSpPr>
            <p:spPr bwMode="auto">
              <a:xfrm flipH="1">
                <a:off x="264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/>
            </p:nvSpPr>
            <p:spPr bwMode="auto">
              <a:xfrm>
                <a:off x="3264" y="1296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2" name="Group 23"/>
              <p:cNvGrpSpPr/>
              <p:nvPr/>
            </p:nvGrpSpPr>
            <p:grpSpPr bwMode="auto">
              <a:xfrm>
                <a:off x="3024" y="2216"/>
                <a:ext cx="1440" cy="384"/>
                <a:chOff x="2016" y="584"/>
                <a:chExt cx="1440" cy="384"/>
              </a:xfrm>
            </p:grpSpPr>
            <p:sp>
              <p:nvSpPr>
                <p:cNvPr id="13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58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58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?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58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8" name="矩形 27"/>
            <p:cNvSpPr/>
            <p:nvPr/>
          </p:nvSpPr>
          <p:spPr bwMode="auto">
            <a:xfrm>
              <a:off x="8041102" y="5589240"/>
              <a:ext cx="2518948" cy="107984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初始内存分配如图所示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请自行画出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swap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中三句话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执行时内存的变化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理解为什么无法交换</a:t>
              </a:r>
              <a:endPara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2135560" y="3573016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箭头连接符 29"/>
            <p:cNvCxnSpPr>
              <a:stCxn id="28" idx="1"/>
              <a:endCxn id="29" idx="3"/>
            </p:cNvCxnSpPr>
            <p:nvPr/>
          </p:nvCxnSpPr>
          <p:spPr bwMode="auto">
            <a:xfrm flipH="1" flipV="1">
              <a:off x="3143672" y="3943266"/>
              <a:ext cx="4897430" cy="21858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932" y="1017938"/>
            <a:ext cx="8856662" cy="3816152"/>
            <a:chOff x="1703388" y="2852936"/>
            <a:chExt cx="8856662" cy="3816152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2852936"/>
              <a:ext cx="8856662" cy="3816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*y)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t = x;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x = y;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y = 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main()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=10, j=15;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,&amp;j);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" name="Group 3"/>
            <p:cNvGrpSpPr/>
            <p:nvPr/>
          </p:nvGrpSpPr>
          <p:grpSpPr bwMode="auto">
            <a:xfrm>
              <a:off x="6744073" y="2998441"/>
              <a:ext cx="3684811" cy="2292651"/>
              <a:chOff x="2016" y="816"/>
              <a:chExt cx="3312" cy="1784"/>
            </a:xfrm>
          </p:grpSpPr>
          <p:grpSp>
            <p:nvGrpSpPr>
              <p:cNvPr id="5" name="Group 4"/>
              <p:cNvGrpSpPr/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25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" name="Group 8"/>
              <p:cNvGrpSpPr/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22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j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15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" name="Group 12"/>
              <p:cNvGrpSpPr/>
              <p:nvPr/>
            </p:nvGrpSpPr>
            <p:grpSpPr bwMode="auto">
              <a:xfrm>
                <a:off x="2016" y="1655"/>
                <a:ext cx="1440" cy="384"/>
                <a:chOff x="2016" y="695"/>
                <a:chExt cx="1440" cy="384"/>
              </a:xfrm>
            </p:grpSpPr>
            <p:sp>
              <p:nvSpPr>
                <p:cNvPr id="19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695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x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695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695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3003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" name="Group 16"/>
              <p:cNvGrpSpPr/>
              <p:nvPr/>
            </p:nvGrpSpPr>
            <p:grpSpPr bwMode="auto">
              <a:xfrm>
                <a:off x="3888" y="1664"/>
                <a:ext cx="1440" cy="384"/>
                <a:chOff x="2016" y="704"/>
                <a:chExt cx="1440" cy="384"/>
              </a:xfrm>
            </p:grpSpPr>
            <p:sp>
              <p:nvSpPr>
                <p:cNvPr id="16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70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y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70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70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" name="Line 20"/>
              <p:cNvSpPr>
                <a:spLocks noChangeShapeType="1"/>
              </p:cNvSpPr>
              <p:nvPr/>
            </p:nvSpPr>
            <p:spPr bwMode="auto">
              <a:xfrm flipH="1">
                <a:off x="264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/>
            </p:nvSpPr>
            <p:spPr bwMode="auto">
              <a:xfrm>
                <a:off x="3264" y="1296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2" name="Group 23"/>
              <p:cNvGrpSpPr/>
              <p:nvPr/>
            </p:nvGrpSpPr>
            <p:grpSpPr bwMode="auto">
              <a:xfrm>
                <a:off x="3024" y="2216"/>
                <a:ext cx="1440" cy="384"/>
                <a:chOff x="2016" y="584"/>
                <a:chExt cx="1440" cy="384"/>
              </a:xfrm>
            </p:grpSpPr>
            <p:sp>
              <p:nvSpPr>
                <p:cNvPr id="13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58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584"/>
                  <a:ext cx="726" cy="384"/>
                </a:xfrm>
                <a:prstGeom prst="rect">
                  <a:avLst/>
                </a:prstGeom>
                <a:solidFill>
                  <a:srgbClr val="CB33AD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58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8" name="矩形 27"/>
            <p:cNvSpPr/>
            <p:nvPr/>
          </p:nvSpPr>
          <p:spPr bwMode="auto">
            <a:xfrm>
              <a:off x="8041102" y="5589240"/>
              <a:ext cx="2518948" cy="107984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初始内存分配如图所示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请自行画出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swap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中三句话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执行时内存的变化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理解为什么无法交换</a:t>
              </a:r>
              <a:endPara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2135560" y="3573016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箭头连接符 29"/>
            <p:cNvCxnSpPr>
              <a:stCxn id="28" idx="1"/>
              <a:endCxn id="29" idx="3"/>
            </p:cNvCxnSpPr>
            <p:nvPr/>
          </p:nvCxnSpPr>
          <p:spPr bwMode="auto">
            <a:xfrm flipH="1" flipV="1">
              <a:off x="3143672" y="3943266"/>
              <a:ext cx="4897430" cy="21858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1" name="直接连接符 30"/>
          <p:cNvCxnSpPr/>
          <p:nvPr/>
        </p:nvCxnSpPr>
        <p:spPr>
          <a:xfrm>
            <a:off x="1210945" y="1947545"/>
            <a:ext cx="48577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直接箭头连接符 31"/>
          <p:cNvCxnSpPr/>
          <p:nvPr/>
        </p:nvCxnSpPr>
        <p:spPr>
          <a:xfrm>
            <a:off x="6225540" y="2773045"/>
            <a:ext cx="474345" cy="4737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932" y="1017938"/>
            <a:ext cx="8856662" cy="3816152"/>
            <a:chOff x="1703388" y="2852936"/>
            <a:chExt cx="8856662" cy="3816152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2852936"/>
              <a:ext cx="8856662" cy="3816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*y)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t = x;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x = y;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y = 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main()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=10, j=15;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,&amp;j);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" name="Group 3"/>
            <p:cNvGrpSpPr/>
            <p:nvPr/>
          </p:nvGrpSpPr>
          <p:grpSpPr bwMode="auto">
            <a:xfrm>
              <a:off x="6744073" y="2998441"/>
              <a:ext cx="3684811" cy="2292651"/>
              <a:chOff x="2016" y="816"/>
              <a:chExt cx="3312" cy="1784"/>
            </a:xfrm>
          </p:grpSpPr>
          <p:grpSp>
            <p:nvGrpSpPr>
              <p:cNvPr id="5" name="Group 4"/>
              <p:cNvGrpSpPr/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25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" name="Group 8"/>
              <p:cNvGrpSpPr/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22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j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15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" name="Group 12"/>
              <p:cNvGrpSpPr/>
              <p:nvPr/>
            </p:nvGrpSpPr>
            <p:grpSpPr bwMode="auto">
              <a:xfrm>
                <a:off x="2016" y="1655"/>
                <a:ext cx="1440" cy="384"/>
                <a:chOff x="2016" y="695"/>
                <a:chExt cx="1440" cy="384"/>
              </a:xfrm>
            </p:grpSpPr>
            <p:sp>
              <p:nvSpPr>
                <p:cNvPr id="19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695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x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695"/>
                  <a:ext cx="726" cy="384"/>
                </a:xfrm>
                <a:prstGeom prst="rect">
                  <a:avLst/>
                </a:prstGeom>
                <a:solidFill>
                  <a:srgbClr val="CB33AD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695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3003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" name="Group 16"/>
              <p:cNvGrpSpPr/>
              <p:nvPr/>
            </p:nvGrpSpPr>
            <p:grpSpPr bwMode="auto">
              <a:xfrm>
                <a:off x="3888" y="1664"/>
                <a:ext cx="1440" cy="384"/>
                <a:chOff x="2016" y="704"/>
                <a:chExt cx="1440" cy="384"/>
              </a:xfrm>
            </p:grpSpPr>
            <p:sp>
              <p:nvSpPr>
                <p:cNvPr id="16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70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y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70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70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" name="Line 20"/>
              <p:cNvSpPr>
                <a:spLocks noChangeShapeType="1"/>
              </p:cNvSpPr>
              <p:nvPr/>
            </p:nvSpPr>
            <p:spPr bwMode="auto">
              <a:xfrm flipH="1">
                <a:off x="264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/>
            </p:nvSpPr>
            <p:spPr bwMode="auto">
              <a:xfrm>
                <a:off x="3264" y="1296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2" name="Group 23"/>
              <p:cNvGrpSpPr/>
              <p:nvPr/>
            </p:nvGrpSpPr>
            <p:grpSpPr bwMode="auto">
              <a:xfrm>
                <a:off x="3024" y="2216"/>
                <a:ext cx="1440" cy="384"/>
                <a:chOff x="2016" y="584"/>
                <a:chExt cx="1440" cy="384"/>
              </a:xfrm>
            </p:grpSpPr>
            <p:sp>
              <p:nvSpPr>
                <p:cNvPr id="13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58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58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58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8" name="矩形 27"/>
            <p:cNvSpPr/>
            <p:nvPr/>
          </p:nvSpPr>
          <p:spPr bwMode="auto">
            <a:xfrm>
              <a:off x="8041102" y="5589240"/>
              <a:ext cx="2518948" cy="107984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初始内存分配如图所示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请自行画出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swap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中三句话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执行时内存的变化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理解为什么无法交换</a:t>
              </a:r>
              <a:endPara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2135560" y="3573016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箭头连接符 29"/>
            <p:cNvCxnSpPr>
              <a:stCxn id="28" idx="1"/>
              <a:endCxn id="29" idx="3"/>
            </p:cNvCxnSpPr>
            <p:nvPr/>
          </p:nvCxnSpPr>
          <p:spPr bwMode="auto">
            <a:xfrm flipH="1" flipV="1">
              <a:off x="3143672" y="3943266"/>
              <a:ext cx="4897430" cy="21858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1" name="直接连接符 30"/>
          <p:cNvCxnSpPr/>
          <p:nvPr/>
        </p:nvCxnSpPr>
        <p:spPr>
          <a:xfrm>
            <a:off x="1198880" y="2199640"/>
            <a:ext cx="4686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直接箭头连接符 31"/>
          <p:cNvCxnSpPr>
            <a:stCxn id="16" idx="1"/>
            <a:endCxn id="21" idx="3"/>
          </p:cNvCxnSpPr>
          <p:nvPr/>
        </p:nvCxnSpPr>
        <p:spPr>
          <a:xfrm flipH="1" flipV="1">
            <a:off x="7218680" y="2488565"/>
            <a:ext cx="480695" cy="1143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932" y="1017938"/>
            <a:ext cx="8856662" cy="3816152"/>
            <a:chOff x="1703388" y="2852936"/>
            <a:chExt cx="8856662" cy="3816152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2852936"/>
              <a:ext cx="8856662" cy="3816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*y)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t = x;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x = y;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y = 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main()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=10, j=15;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,&amp;j);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" name="Group 3"/>
            <p:cNvGrpSpPr/>
            <p:nvPr/>
          </p:nvGrpSpPr>
          <p:grpSpPr bwMode="auto">
            <a:xfrm>
              <a:off x="6744073" y="2998441"/>
              <a:ext cx="3684811" cy="2292651"/>
              <a:chOff x="2016" y="816"/>
              <a:chExt cx="3312" cy="1784"/>
            </a:xfrm>
          </p:grpSpPr>
          <p:grpSp>
            <p:nvGrpSpPr>
              <p:cNvPr id="5" name="Group 4"/>
              <p:cNvGrpSpPr/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25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" name="Group 8"/>
              <p:cNvGrpSpPr/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22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j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15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" name="Group 12"/>
              <p:cNvGrpSpPr/>
              <p:nvPr/>
            </p:nvGrpSpPr>
            <p:grpSpPr bwMode="auto">
              <a:xfrm>
                <a:off x="2016" y="1655"/>
                <a:ext cx="1440" cy="384"/>
                <a:chOff x="2016" y="695"/>
                <a:chExt cx="1440" cy="384"/>
              </a:xfrm>
            </p:grpSpPr>
            <p:sp>
              <p:nvSpPr>
                <p:cNvPr id="19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695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x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695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695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3003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" name="Group 16"/>
              <p:cNvGrpSpPr/>
              <p:nvPr/>
            </p:nvGrpSpPr>
            <p:grpSpPr bwMode="auto">
              <a:xfrm>
                <a:off x="3888" y="1664"/>
                <a:ext cx="1440" cy="384"/>
                <a:chOff x="2016" y="704"/>
                <a:chExt cx="1440" cy="384"/>
              </a:xfrm>
            </p:grpSpPr>
            <p:sp>
              <p:nvSpPr>
                <p:cNvPr id="16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70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y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704"/>
                  <a:ext cx="726" cy="384"/>
                </a:xfrm>
                <a:prstGeom prst="rect">
                  <a:avLst/>
                </a:prstGeom>
                <a:solidFill>
                  <a:srgbClr val="CB33AD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70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" name="Line 20"/>
              <p:cNvSpPr>
                <a:spLocks noChangeShapeType="1"/>
              </p:cNvSpPr>
              <p:nvPr/>
            </p:nvSpPr>
            <p:spPr bwMode="auto">
              <a:xfrm flipH="1">
                <a:off x="264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/>
            </p:nvSpPr>
            <p:spPr bwMode="auto">
              <a:xfrm>
                <a:off x="3264" y="1296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2" name="Group 23"/>
              <p:cNvGrpSpPr/>
              <p:nvPr/>
            </p:nvGrpSpPr>
            <p:grpSpPr bwMode="auto">
              <a:xfrm>
                <a:off x="3024" y="2216"/>
                <a:ext cx="1440" cy="384"/>
                <a:chOff x="2016" y="584"/>
                <a:chExt cx="1440" cy="384"/>
              </a:xfrm>
            </p:grpSpPr>
            <p:sp>
              <p:nvSpPr>
                <p:cNvPr id="13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58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58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58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8" name="矩形 27"/>
            <p:cNvSpPr/>
            <p:nvPr/>
          </p:nvSpPr>
          <p:spPr bwMode="auto">
            <a:xfrm>
              <a:off x="8041102" y="5589240"/>
              <a:ext cx="2518948" cy="107984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初始内存分配如图所示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请自行画出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swap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中三句话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执行时内存的变化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理解为什么无法交换</a:t>
              </a:r>
              <a:endPara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2135560" y="3573016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箭头连接符 29"/>
            <p:cNvCxnSpPr>
              <a:stCxn id="28" idx="1"/>
              <a:endCxn id="29" idx="3"/>
            </p:cNvCxnSpPr>
            <p:nvPr/>
          </p:nvCxnSpPr>
          <p:spPr bwMode="auto">
            <a:xfrm flipH="1" flipV="1">
              <a:off x="3143672" y="3943266"/>
              <a:ext cx="4897430" cy="21858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1" name="直接连接符 30"/>
          <p:cNvCxnSpPr/>
          <p:nvPr/>
        </p:nvCxnSpPr>
        <p:spPr>
          <a:xfrm flipV="1">
            <a:off x="1181735" y="2433320"/>
            <a:ext cx="485775" cy="57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直接箭头连接符 31"/>
          <p:cNvCxnSpPr/>
          <p:nvPr/>
        </p:nvCxnSpPr>
        <p:spPr>
          <a:xfrm flipV="1">
            <a:off x="8449310" y="2831465"/>
            <a:ext cx="87630" cy="53213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932" y="1017938"/>
            <a:ext cx="8856662" cy="3600128"/>
            <a:chOff x="1703388" y="3068960"/>
            <a:chExt cx="8856662" cy="3600128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3068960"/>
              <a:ext cx="8856662" cy="36001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*y)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*t = *x;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*x = *y;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*y =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main()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=10, j=15;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,&amp;j);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=15 j=10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                                          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或 死机或其它非正常现象</a:t>
              </a:r>
              <a:endPara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2175316" y="3683362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9" name="直接箭头连接符 28"/>
            <p:cNvCxnSpPr>
              <a:stCxn id="58" idx="1"/>
              <a:endCxn id="28" idx="3"/>
            </p:cNvCxnSpPr>
            <p:nvPr/>
          </p:nvCxnSpPr>
          <p:spPr bwMode="auto">
            <a:xfrm flipH="1" flipV="1">
              <a:off x="3183428" y="4053611"/>
              <a:ext cx="320284" cy="36772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0" name="Group 3"/>
            <p:cNvGrpSpPr/>
            <p:nvPr/>
          </p:nvGrpSpPr>
          <p:grpSpPr bwMode="auto">
            <a:xfrm>
              <a:off x="6574405" y="3141264"/>
              <a:ext cx="3908896" cy="1977752"/>
              <a:chOff x="2016" y="816"/>
              <a:chExt cx="3312" cy="1728"/>
            </a:xfrm>
          </p:grpSpPr>
          <p:grpSp>
            <p:nvGrpSpPr>
              <p:cNvPr id="31" name="Group 4"/>
              <p:cNvGrpSpPr/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54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2" name="Group 8"/>
              <p:cNvGrpSpPr/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51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j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15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3" name="Group 12"/>
              <p:cNvGrpSpPr/>
              <p:nvPr/>
            </p:nvGrpSpPr>
            <p:grpSpPr bwMode="auto">
              <a:xfrm>
                <a:off x="2016" y="1536"/>
                <a:ext cx="1440" cy="384"/>
                <a:chOff x="2016" y="816"/>
                <a:chExt cx="1440" cy="384"/>
              </a:xfrm>
            </p:grpSpPr>
            <p:sp>
              <p:nvSpPr>
                <p:cNvPr id="48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x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4" name="Group 16"/>
              <p:cNvGrpSpPr/>
              <p:nvPr/>
            </p:nvGrpSpPr>
            <p:grpSpPr bwMode="auto">
              <a:xfrm>
                <a:off x="3888" y="1536"/>
                <a:ext cx="1440" cy="384"/>
                <a:chOff x="2016" y="816"/>
                <a:chExt cx="1440" cy="384"/>
              </a:xfrm>
            </p:grpSpPr>
            <p:sp>
              <p:nvSpPr>
                <p:cNvPr id="45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y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264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3264" y="1200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38" name="Group 23"/>
              <p:cNvGrpSpPr/>
              <p:nvPr/>
            </p:nvGrpSpPr>
            <p:grpSpPr bwMode="auto">
              <a:xfrm>
                <a:off x="2016" y="2160"/>
                <a:ext cx="1440" cy="384"/>
                <a:chOff x="2016" y="816"/>
                <a:chExt cx="1440" cy="384"/>
              </a:xfrm>
            </p:grpSpPr>
            <p:sp>
              <p:nvSpPr>
                <p:cNvPr id="42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r>
                    <a:rPr kumimoji="1" lang="zh-CN" altLang="en-US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假设</a:t>
                  </a: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5000)</a:t>
                  </a:r>
                  <a:endParaRPr kumimoji="1"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9" name="Group 27"/>
              <p:cNvGrpSpPr/>
              <p:nvPr/>
            </p:nvGrpSpPr>
            <p:grpSpPr bwMode="auto">
              <a:xfrm>
                <a:off x="4128" y="2160"/>
                <a:ext cx="1179" cy="384"/>
                <a:chOff x="4341" y="2448"/>
                <a:chExt cx="1179" cy="384"/>
              </a:xfrm>
            </p:grpSpPr>
            <p:sp>
              <p:nvSpPr>
                <p:cNvPr id="40" name="Rectangle 28"/>
                <p:cNvSpPr>
                  <a:spLocks noChangeArrowheads="1"/>
                </p:cNvSpPr>
                <p:nvPr/>
              </p:nvSpPr>
              <p:spPr bwMode="auto">
                <a:xfrm>
                  <a:off x="4341" y="2448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?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1" name="Rectangle 29"/>
                <p:cNvSpPr>
                  <a:spLocks noChangeArrowheads="1"/>
                </p:cNvSpPr>
                <p:nvPr/>
              </p:nvSpPr>
              <p:spPr bwMode="auto">
                <a:xfrm>
                  <a:off x="5067" y="2448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5003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7873714" y="5378158"/>
              <a:ext cx="2614899" cy="5711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提示：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5000-5003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系统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是否分配给了程序？</a:t>
              </a:r>
              <a:endPara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3503712" y="3464516"/>
              <a:ext cx="2952328" cy="1913642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VS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编译报错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-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使用了未初始化的局部变量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其它编译器可能可以运行</a:t>
              </a:r>
              <a:endParaRPr kumimoji="1" lang="en-US" altLang="zh-CN" sz="12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初始内存分配如图所示，请自行画出</a:t>
              </a:r>
              <a:r>
                <a:rPr kumimoji="1" lang="en-US" altLang="zh-CN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swap</a:t>
              </a: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中三句话执行时内存的变化，理解为什么出现严重错误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：哪句是错误的关键？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 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改为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 *t;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            t = &amp;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为什么就正确了？</a:t>
              </a:r>
              <a:endPara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0" name="直接箭头连接符 59"/>
            <p:cNvCxnSpPr>
              <a:stCxn id="57" idx="0"/>
            </p:cNvCxnSpPr>
            <p:nvPr/>
          </p:nvCxnSpPr>
          <p:spPr bwMode="auto">
            <a:xfrm flipV="1">
              <a:off x="9181164" y="5133732"/>
              <a:ext cx="83189" cy="2444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932" y="1017938"/>
            <a:ext cx="8856662" cy="3600128"/>
            <a:chOff x="1703388" y="3068960"/>
            <a:chExt cx="8856662" cy="3600128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3068960"/>
              <a:ext cx="8856662" cy="36001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*y)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*t = *x;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*x = *y;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*y =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main()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=10, j=15;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,&amp;j);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=15 j=10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                                          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或 死机或其它非正常现象</a:t>
              </a:r>
              <a:endPara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2175316" y="3683362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9" name="直接箭头连接符 28"/>
            <p:cNvCxnSpPr>
              <a:stCxn id="58" idx="1"/>
              <a:endCxn id="28" idx="3"/>
            </p:cNvCxnSpPr>
            <p:nvPr/>
          </p:nvCxnSpPr>
          <p:spPr bwMode="auto">
            <a:xfrm flipH="1" flipV="1">
              <a:off x="3183428" y="4053611"/>
              <a:ext cx="320284" cy="36772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0" name="Group 3"/>
            <p:cNvGrpSpPr/>
            <p:nvPr/>
          </p:nvGrpSpPr>
          <p:grpSpPr bwMode="auto">
            <a:xfrm>
              <a:off x="6574405" y="3141264"/>
              <a:ext cx="3908896" cy="1977752"/>
              <a:chOff x="2016" y="816"/>
              <a:chExt cx="3312" cy="1728"/>
            </a:xfrm>
          </p:grpSpPr>
          <p:grpSp>
            <p:nvGrpSpPr>
              <p:cNvPr id="31" name="Group 4"/>
              <p:cNvGrpSpPr/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54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2" name="Group 8"/>
              <p:cNvGrpSpPr/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51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j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15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3" name="Group 12"/>
              <p:cNvGrpSpPr/>
              <p:nvPr/>
            </p:nvGrpSpPr>
            <p:grpSpPr bwMode="auto">
              <a:xfrm>
                <a:off x="2016" y="1536"/>
                <a:ext cx="1440" cy="384"/>
                <a:chOff x="2016" y="816"/>
                <a:chExt cx="1440" cy="384"/>
              </a:xfrm>
            </p:grpSpPr>
            <p:sp>
              <p:nvSpPr>
                <p:cNvPr id="48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x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4" name="Group 16"/>
              <p:cNvGrpSpPr/>
              <p:nvPr/>
            </p:nvGrpSpPr>
            <p:grpSpPr bwMode="auto">
              <a:xfrm>
                <a:off x="3888" y="1536"/>
                <a:ext cx="1440" cy="384"/>
                <a:chOff x="2016" y="816"/>
                <a:chExt cx="1440" cy="384"/>
              </a:xfrm>
            </p:grpSpPr>
            <p:sp>
              <p:nvSpPr>
                <p:cNvPr id="45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y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264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3264" y="1200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38" name="Group 23"/>
              <p:cNvGrpSpPr/>
              <p:nvPr/>
            </p:nvGrpSpPr>
            <p:grpSpPr bwMode="auto">
              <a:xfrm>
                <a:off x="2016" y="2160"/>
                <a:ext cx="1440" cy="384"/>
                <a:chOff x="2016" y="816"/>
                <a:chExt cx="1440" cy="384"/>
              </a:xfrm>
            </p:grpSpPr>
            <p:sp>
              <p:nvSpPr>
                <p:cNvPr id="42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r>
                    <a:rPr kumimoji="1" lang="zh-CN" altLang="en-US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假设</a:t>
                  </a: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5000)</a:t>
                  </a:r>
                  <a:endParaRPr kumimoji="1"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9" name="Group 27"/>
              <p:cNvGrpSpPr/>
              <p:nvPr/>
            </p:nvGrpSpPr>
            <p:grpSpPr bwMode="auto">
              <a:xfrm>
                <a:off x="4128" y="2160"/>
                <a:ext cx="1179" cy="384"/>
                <a:chOff x="4341" y="2448"/>
                <a:chExt cx="1179" cy="384"/>
              </a:xfrm>
            </p:grpSpPr>
            <p:sp>
              <p:nvSpPr>
                <p:cNvPr id="40" name="Rectangle 28"/>
                <p:cNvSpPr>
                  <a:spLocks noChangeArrowheads="1"/>
                </p:cNvSpPr>
                <p:nvPr/>
              </p:nvSpPr>
              <p:spPr bwMode="auto">
                <a:xfrm>
                  <a:off x="4341" y="2448"/>
                  <a:ext cx="726" cy="384"/>
                </a:xfrm>
                <a:prstGeom prst="rect">
                  <a:avLst/>
                </a:prstGeom>
                <a:solidFill>
                  <a:srgbClr val="CB33AD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1" name="Rectangle 29"/>
                <p:cNvSpPr>
                  <a:spLocks noChangeArrowheads="1"/>
                </p:cNvSpPr>
                <p:nvPr/>
              </p:nvSpPr>
              <p:spPr bwMode="auto">
                <a:xfrm>
                  <a:off x="5067" y="2448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5003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7873714" y="5378158"/>
              <a:ext cx="2614899" cy="5711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提示：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5000-5003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系统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是否分配给了程序？</a:t>
              </a:r>
              <a:endPara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3503712" y="3464516"/>
              <a:ext cx="2952328" cy="1913642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VS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编译报错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-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使用了未初始化的局部变量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其它编译器可能可以运行</a:t>
              </a:r>
              <a:endParaRPr kumimoji="1" lang="en-US" altLang="zh-CN" sz="12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初始内存分配如图所示，请自行画出</a:t>
              </a:r>
              <a:r>
                <a:rPr kumimoji="1" lang="en-US" altLang="zh-CN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swap</a:t>
              </a: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中三句话执行时内存的变化，理解为什么出现严重错误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：哪句是错误的关键？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 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改为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 *t;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            t = &amp;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为什么就正确了？</a:t>
              </a:r>
              <a:endPara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0" name="直接箭头连接符 59"/>
            <p:cNvCxnSpPr>
              <a:stCxn id="57" idx="0"/>
            </p:cNvCxnSpPr>
            <p:nvPr/>
          </p:nvCxnSpPr>
          <p:spPr bwMode="auto">
            <a:xfrm flipV="1">
              <a:off x="9181164" y="5133732"/>
              <a:ext cx="83189" cy="2444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" name="直接连接符 3"/>
          <p:cNvCxnSpPr/>
          <p:nvPr/>
        </p:nvCxnSpPr>
        <p:spPr>
          <a:xfrm flipV="1">
            <a:off x="1205230" y="1836420"/>
            <a:ext cx="672465" cy="57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直接箭头连接符 4"/>
          <p:cNvCxnSpPr>
            <a:endCxn id="40" idx="1"/>
          </p:cNvCxnSpPr>
          <p:nvPr/>
        </p:nvCxnSpPr>
        <p:spPr>
          <a:xfrm>
            <a:off x="6880860" y="1520825"/>
            <a:ext cx="1058545" cy="132715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932" y="1017938"/>
            <a:ext cx="8856662" cy="3600128"/>
            <a:chOff x="1703388" y="3068960"/>
            <a:chExt cx="8856662" cy="3600128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3068960"/>
              <a:ext cx="8856662" cy="36001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*y)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*t = *x;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*x = *y;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*y =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main()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=10, j=15;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,&amp;j);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=15 j=10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                                          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或 死机或其它非正常现象</a:t>
              </a:r>
              <a:endPara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2175316" y="3683362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9" name="直接箭头连接符 28"/>
            <p:cNvCxnSpPr>
              <a:stCxn id="58" idx="1"/>
              <a:endCxn id="28" idx="3"/>
            </p:cNvCxnSpPr>
            <p:nvPr/>
          </p:nvCxnSpPr>
          <p:spPr bwMode="auto">
            <a:xfrm flipH="1" flipV="1">
              <a:off x="3183428" y="4053611"/>
              <a:ext cx="320284" cy="36772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0" name="Group 3"/>
            <p:cNvGrpSpPr/>
            <p:nvPr/>
          </p:nvGrpSpPr>
          <p:grpSpPr bwMode="auto">
            <a:xfrm>
              <a:off x="6574405" y="3141264"/>
              <a:ext cx="3908896" cy="1977752"/>
              <a:chOff x="2016" y="816"/>
              <a:chExt cx="3312" cy="1728"/>
            </a:xfrm>
          </p:grpSpPr>
          <p:grpSp>
            <p:nvGrpSpPr>
              <p:cNvPr id="31" name="Group 4"/>
              <p:cNvGrpSpPr/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54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CB33AD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15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2" name="Group 8"/>
              <p:cNvGrpSpPr/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51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j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15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3" name="Group 12"/>
              <p:cNvGrpSpPr/>
              <p:nvPr/>
            </p:nvGrpSpPr>
            <p:grpSpPr bwMode="auto">
              <a:xfrm>
                <a:off x="2016" y="1536"/>
                <a:ext cx="1440" cy="384"/>
                <a:chOff x="2016" y="816"/>
                <a:chExt cx="1440" cy="384"/>
              </a:xfrm>
            </p:grpSpPr>
            <p:sp>
              <p:nvSpPr>
                <p:cNvPr id="48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x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4" name="Group 16"/>
              <p:cNvGrpSpPr/>
              <p:nvPr/>
            </p:nvGrpSpPr>
            <p:grpSpPr bwMode="auto">
              <a:xfrm>
                <a:off x="3888" y="1536"/>
                <a:ext cx="1440" cy="384"/>
                <a:chOff x="2016" y="816"/>
                <a:chExt cx="1440" cy="384"/>
              </a:xfrm>
            </p:grpSpPr>
            <p:sp>
              <p:nvSpPr>
                <p:cNvPr id="45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y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264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3264" y="1200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38" name="Group 23"/>
              <p:cNvGrpSpPr/>
              <p:nvPr/>
            </p:nvGrpSpPr>
            <p:grpSpPr bwMode="auto">
              <a:xfrm>
                <a:off x="2016" y="2160"/>
                <a:ext cx="1440" cy="384"/>
                <a:chOff x="2016" y="816"/>
                <a:chExt cx="1440" cy="384"/>
              </a:xfrm>
            </p:grpSpPr>
            <p:sp>
              <p:nvSpPr>
                <p:cNvPr id="42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r>
                    <a:rPr kumimoji="1" lang="zh-CN" altLang="en-US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假设</a:t>
                  </a: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5000)</a:t>
                  </a:r>
                  <a:endParaRPr kumimoji="1"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9" name="Group 27"/>
              <p:cNvGrpSpPr/>
              <p:nvPr/>
            </p:nvGrpSpPr>
            <p:grpSpPr bwMode="auto">
              <a:xfrm>
                <a:off x="4128" y="2160"/>
                <a:ext cx="1179" cy="384"/>
                <a:chOff x="4341" y="2448"/>
                <a:chExt cx="1179" cy="384"/>
              </a:xfrm>
            </p:grpSpPr>
            <p:sp>
              <p:nvSpPr>
                <p:cNvPr id="40" name="Rectangle 28"/>
                <p:cNvSpPr>
                  <a:spLocks noChangeArrowheads="1"/>
                </p:cNvSpPr>
                <p:nvPr/>
              </p:nvSpPr>
              <p:spPr bwMode="auto">
                <a:xfrm>
                  <a:off x="4341" y="2448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sym typeface="+mn-ea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endParaRPr>
                </a:p>
              </p:txBody>
            </p:sp>
            <p:sp>
              <p:nvSpPr>
                <p:cNvPr id="41" name="Rectangle 29"/>
                <p:cNvSpPr>
                  <a:spLocks noChangeArrowheads="1"/>
                </p:cNvSpPr>
                <p:nvPr/>
              </p:nvSpPr>
              <p:spPr bwMode="auto">
                <a:xfrm>
                  <a:off x="5067" y="2448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5003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7873714" y="5378158"/>
              <a:ext cx="2614899" cy="5711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提示：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5000-5003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系统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是否分配给了程序？</a:t>
              </a:r>
              <a:endPara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3503712" y="3464516"/>
              <a:ext cx="2952328" cy="1913642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VS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编译报错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-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使用了未初始化的局部变量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其它编译器可能可以运行</a:t>
              </a:r>
              <a:endParaRPr kumimoji="1" lang="en-US" altLang="zh-CN" sz="12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初始内存分配如图所示，请自行画出</a:t>
              </a:r>
              <a:r>
                <a:rPr kumimoji="1" lang="en-US" altLang="zh-CN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swap</a:t>
              </a: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中三句话执行时内存的变化，理解为什么出现严重错误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：哪句是错误的关键？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 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改为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 *t;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            t = &amp;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为什么就正确了？</a:t>
              </a:r>
              <a:endPara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0" name="直接箭头连接符 59"/>
            <p:cNvCxnSpPr>
              <a:stCxn id="57" idx="0"/>
            </p:cNvCxnSpPr>
            <p:nvPr/>
          </p:nvCxnSpPr>
          <p:spPr bwMode="auto">
            <a:xfrm flipV="1">
              <a:off x="9181164" y="5133732"/>
              <a:ext cx="83189" cy="2444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" name="直接连接符 3"/>
          <p:cNvCxnSpPr/>
          <p:nvPr/>
        </p:nvCxnSpPr>
        <p:spPr>
          <a:xfrm>
            <a:off x="1140460" y="2099945"/>
            <a:ext cx="7607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直接箭头连接符 4"/>
          <p:cNvCxnSpPr>
            <a:stCxn id="51" idx="1"/>
            <a:endCxn id="56" idx="3"/>
          </p:cNvCxnSpPr>
          <p:nvPr/>
        </p:nvCxnSpPr>
        <p:spPr>
          <a:xfrm flipH="1">
            <a:off x="7146290" y="1310005"/>
            <a:ext cx="50990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932" y="1017938"/>
            <a:ext cx="8856662" cy="3600128"/>
            <a:chOff x="1703388" y="3068960"/>
            <a:chExt cx="8856662" cy="3600128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3068960"/>
              <a:ext cx="8856662" cy="36001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*y)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*t = *x;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*x = *y;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*y =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main()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=10, j=15;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,&amp;j);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=15 j=10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                                          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或 死机或其它非正常现象</a:t>
              </a:r>
              <a:endPara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2175316" y="3683362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9" name="直接箭头连接符 28"/>
            <p:cNvCxnSpPr>
              <a:stCxn id="58" idx="1"/>
              <a:endCxn id="28" idx="3"/>
            </p:cNvCxnSpPr>
            <p:nvPr/>
          </p:nvCxnSpPr>
          <p:spPr bwMode="auto">
            <a:xfrm flipH="1" flipV="1">
              <a:off x="3183672" y="4053672"/>
              <a:ext cx="320040" cy="36766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0" name="Group 3"/>
            <p:cNvGrpSpPr/>
            <p:nvPr/>
          </p:nvGrpSpPr>
          <p:grpSpPr bwMode="auto">
            <a:xfrm>
              <a:off x="6574405" y="3141264"/>
              <a:ext cx="3908896" cy="1977752"/>
              <a:chOff x="2016" y="816"/>
              <a:chExt cx="3312" cy="1728"/>
            </a:xfrm>
          </p:grpSpPr>
          <p:grpSp>
            <p:nvGrpSpPr>
              <p:cNvPr id="31" name="Group 4"/>
              <p:cNvGrpSpPr/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54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sym typeface="+mn-ea"/>
                    </a:rPr>
                    <a:t>15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endParaRPr>
                </a:p>
              </p:txBody>
            </p:sp>
            <p:sp>
              <p:nvSpPr>
                <p:cNvPr id="56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2" name="Group 8"/>
              <p:cNvGrpSpPr/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51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j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CB33AD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3" name="Group 12"/>
              <p:cNvGrpSpPr/>
              <p:nvPr/>
            </p:nvGrpSpPr>
            <p:grpSpPr bwMode="auto">
              <a:xfrm>
                <a:off x="2016" y="1536"/>
                <a:ext cx="1440" cy="384"/>
                <a:chOff x="2016" y="816"/>
                <a:chExt cx="1440" cy="384"/>
              </a:xfrm>
            </p:grpSpPr>
            <p:sp>
              <p:nvSpPr>
                <p:cNvPr id="48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x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4" name="Group 16"/>
              <p:cNvGrpSpPr/>
              <p:nvPr/>
            </p:nvGrpSpPr>
            <p:grpSpPr bwMode="auto">
              <a:xfrm>
                <a:off x="3888" y="1536"/>
                <a:ext cx="1440" cy="384"/>
                <a:chOff x="2016" y="816"/>
                <a:chExt cx="1440" cy="384"/>
              </a:xfrm>
            </p:grpSpPr>
            <p:sp>
              <p:nvSpPr>
                <p:cNvPr id="45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y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264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3264" y="1200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38" name="Group 23"/>
              <p:cNvGrpSpPr/>
              <p:nvPr/>
            </p:nvGrpSpPr>
            <p:grpSpPr bwMode="auto">
              <a:xfrm>
                <a:off x="2016" y="2160"/>
                <a:ext cx="1440" cy="384"/>
                <a:chOff x="2016" y="816"/>
                <a:chExt cx="1440" cy="384"/>
              </a:xfrm>
            </p:grpSpPr>
            <p:sp>
              <p:nvSpPr>
                <p:cNvPr id="42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r>
                    <a:rPr kumimoji="1" lang="zh-CN" altLang="en-US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假设</a:t>
                  </a: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5000)</a:t>
                  </a:r>
                  <a:endParaRPr kumimoji="1"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9" name="Group 27"/>
              <p:cNvGrpSpPr/>
              <p:nvPr/>
            </p:nvGrpSpPr>
            <p:grpSpPr bwMode="auto">
              <a:xfrm>
                <a:off x="4128" y="2160"/>
                <a:ext cx="1179" cy="384"/>
                <a:chOff x="4341" y="2448"/>
                <a:chExt cx="1179" cy="384"/>
              </a:xfrm>
            </p:grpSpPr>
            <p:sp>
              <p:nvSpPr>
                <p:cNvPr id="40" name="Rectangle 28"/>
                <p:cNvSpPr>
                  <a:spLocks noChangeArrowheads="1"/>
                </p:cNvSpPr>
                <p:nvPr/>
              </p:nvSpPr>
              <p:spPr bwMode="auto">
                <a:xfrm>
                  <a:off x="4341" y="2448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sym typeface="+mn-ea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endParaRPr>
                </a:p>
              </p:txBody>
            </p:sp>
            <p:sp>
              <p:nvSpPr>
                <p:cNvPr id="41" name="Rectangle 29"/>
                <p:cNvSpPr>
                  <a:spLocks noChangeArrowheads="1"/>
                </p:cNvSpPr>
                <p:nvPr/>
              </p:nvSpPr>
              <p:spPr bwMode="auto">
                <a:xfrm>
                  <a:off x="5067" y="2448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5003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7873714" y="5378158"/>
              <a:ext cx="2614899" cy="5711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提示：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5000-5003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系统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是否分配给了程序？</a:t>
              </a:r>
              <a:endPara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3503613" y="3464565"/>
              <a:ext cx="3022600" cy="1913890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VS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编译报错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-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使用了未初始化的局部变量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其它编译器可能可以运行</a:t>
              </a:r>
              <a:endParaRPr kumimoji="1" lang="en-US" altLang="zh-CN" sz="12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初始内存分配如图所示，请自行画出</a:t>
              </a:r>
              <a:r>
                <a:rPr kumimoji="1" lang="en-US" altLang="zh-CN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swap</a:t>
              </a: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中三句话执行时内存的变化，理解为什么出现严重错误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：哪句是错误的关键？</a:t>
              </a:r>
              <a:r>
                <a:rPr kumimoji="1" lang="en-US" altLang="zh-CN" sz="1200" b="1" u="sng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 *t</a:t>
              </a:r>
              <a:r>
                <a:rPr kumimoji="1" lang="zh-CN" altLang="en-US" sz="1200" b="1" u="sng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未初始化</a:t>
              </a:r>
              <a:endPara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 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改为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 *t;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            t = &amp;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为什么就正确了？</a:t>
              </a:r>
              <a:r>
                <a:rPr kumimoji="1" lang="en-US" altLang="zh-CN" sz="1200" b="1" u="sng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int *t</a:t>
              </a:r>
              <a:r>
                <a:rPr kumimoji="1" lang="zh-CN" altLang="en-US" sz="1200" b="1" u="sng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初始化了</a:t>
              </a:r>
              <a:endParaRPr kumimoji="1" lang="zh-CN" altLang="en-US" sz="1200" b="1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  <p:cxnSp>
          <p:nvCxnSpPr>
            <p:cNvPr id="60" name="直接箭头连接符 59"/>
            <p:cNvCxnSpPr>
              <a:stCxn id="57" idx="0"/>
            </p:cNvCxnSpPr>
            <p:nvPr/>
          </p:nvCxnSpPr>
          <p:spPr bwMode="auto">
            <a:xfrm flipV="1">
              <a:off x="9181164" y="5133732"/>
              <a:ext cx="83189" cy="2444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" name="直接连接符 3"/>
          <p:cNvCxnSpPr/>
          <p:nvPr/>
        </p:nvCxnSpPr>
        <p:spPr>
          <a:xfrm>
            <a:off x="1176020" y="2333625"/>
            <a:ext cx="66103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直接箭头连接符 4"/>
          <p:cNvCxnSpPr/>
          <p:nvPr/>
        </p:nvCxnSpPr>
        <p:spPr>
          <a:xfrm flipH="1" flipV="1">
            <a:off x="8168005" y="1537970"/>
            <a:ext cx="6350" cy="10941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6203</Words>
  <Application>WPS 演示</Application>
  <PresentationFormat>宽屏</PresentationFormat>
  <Paragraphs>804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foulen</cp:lastModifiedBy>
  <cp:revision>42</cp:revision>
  <dcterms:created xsi:type="dcterms:W3CDTF">2020-08-13T13:39:00Z</dcterms:created>
  <dcterms:modified xsi:type="dcterms:W3CDTF">2025-05-17T15:12:26Z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5955D8136A3348F486AE4E77C3DAB685_12</vt:lpwstr>
  </property>
  <property fmtid="{D5CDD505-2E9C-101B-9397-08002B2CF9AE}" pid="3" name="KSOProductBuildVer">
    <vt:lpwstr>2052-12.1.0.20784</vt:lpwstr>
  </property>
</Properties>
</file>