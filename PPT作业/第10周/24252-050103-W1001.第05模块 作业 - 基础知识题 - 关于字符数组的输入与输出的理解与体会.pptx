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279" r:id="rId4"/>
    <p:sldId id="1021" r:id="rId6"/>
    <p:sldId id="1309" r:id="rId7"/>
    <p:sldId id="990" r:id="rId8"/>
    <p:sldId id="992" r:id="rId9"/>
    <p:sldId id="993" r:id="rId10"/>
    <p:sldId id="994" r:id="rId11"/>
    <p:sldId id="995" r:id="rId12"/>
    <p:sldId id="996" r:id="rId13"/>
    <p:sldId id="997" r:id="rId14"/>
    <p:sldId id="998" r:id="rId15"/>
    <p:sldId id="999" r:id="rId16"/>
    <p:sldId id="1000" r:id="rId17"/>
    <p:sldId id="1001" r:id="rId18"/>
    <p:sldId id="1002" r:id="rId19"/>
    <p:sldId id="1003" r:id="rId20"/>
    <p:sldId id="1004" r:id="rId21"/>
    <p:sldId id="1005" r:id="rId22"/>
    <p:sldId id="1006" r:id="rId23"/>
    <p:sldId id="1007" r:id="rId24"/>
    <p:sldId id="1008" r:id="rId25"/>
    <p:sldId id="886" r:id="rId26"/>
    <p:sldId id="1009" r:id="rId27"/>
    <p:sldId id="1010" r:id="rId28"/>
    <p:sldId id="1011" r:id="rId29"/>
    <p:sldId id="1012" r:id="rId30"/>
    <p:sldId id="1013" r:id="rId31"/>
    <p:sldId id="1014" r:id="rId32"/>
    <p:sldId id="1015" r:id="rId33"/>
    <p:sldId id="1016" r:id="rId34"/>
    <p:sldId id="1017" r:id="rId35"/>
    <p:sldId id="1020" r:id="rId36"/>
    <p:sldId id="1019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、部分内容的填写，如果能确定是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不确定值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随机值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的，可直接填写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**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</a:t>
            </a:r>
            <a:r>
              <a:rPr lang="en-US" altLang="zh-CN" sz="1600" b="1" dirty="0">
                <a:latin typeface="+mn-ea"/>
              </a:rPr>
              <a:t>"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9018" y="1400426"/>
            <a:ext cx="8424936" cy="2820662"/>
            <a:chOff x="323528" y="3933056"/>
            <a:chExt cx="8424936" cy="282066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3528" y="3933056"/>
              <a:ext cx="6333333" cy="26380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948264" y="3933056"/>
              <a:ext cx="1800200" cy="2820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>
              <a:stCxn id="4" idx="1"/>
              <a:endCxn id="4" idx="3"/>
            </p:cNvCxnSpPr>
            <p:nvPr/>
          </p:nvCxnSpPr>
          <p:spPr bwMode="auto">
            <a:xfrm>
              <a:off x="6948264" y="5343387"/>
              <a:ext cx="18002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箭头: 右 5"/>
            <p:cNvSpPr/>
            <p:nvPr/>
          </p:nvSpPr>
          <p:spPr bwMode="auto">
            <a:xfrm>
              <a:off x="5796136" y="5157192"/>
              <a:ext cx="1152128" cy="389869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数组下标表示前有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规定后面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必须是变量的地址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4"/>
          <p:cNvSpPr/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&amp;a[0]);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a[0];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894715"/>
            <a:ext cx="3521075" cy="55956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没有输出结果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仍没有输出结果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67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65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66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当作一个输入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当作输入结束的指令</a:t>
            </a:r>
            <a:endParaRPr kumimoji="1" lang="zh-CN" altLang="en-US" sz="1200" b="1" u="sng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不在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\0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数组对应位置被替换为输入字符的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ASCLL</a:t>
            </a: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码，</a:t>
            </a:r>
            <a:endParaRPr kumimoji="1" lang="zh-CN" altLang="en-US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最后还有一位被换成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</a:rPr>
              <a:t>0.</a:t>
            </a:r>
            <a:endParaRPr kumimoji="1" lang="en-US" altLang="zh-CN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</a:rPr>
              <a:t>超出范围，系统报错。</a:t>
            </a:r>
            <a:endParaRPr kumimoji="1" lang="en-US" altLang="zh-CN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不在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\0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  <a:sym typeface="+mn-ea"/>
              </a:rPr>
              <a:t>数组对应位置被替换为输入字符的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  <a:sym typeface="+mn-ea"/>
              </a:rPr>
              <a:t>ASCLL</a:t>
            </a: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  <a:sym typeface="+mn-ea"/>
              </a:rPr>
              <a:t>码，</a:t>
            </a:r>
            <a:endParaRPr kumimoji="1" lang="zh-CN" altLang="en-US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  <a:sym typeface="+mn-ea"/>
              </a:rPr>
              <a:t>最后还有一位被换成</a:t>
            </a:r>
            <a:r>
              <a:rPr kumimoji="1" lang="en-US" altLang="zh-CN" sz="1200" b="1" u="sng" dirty="0">
                <a:solidFill>
                  <a:srgbClr val="000000"/>
                </a:solidFill>
                <a:latin typeface="+mn-ea"/>
                <a:sym typeface="+mn-ea"/>
              </a:rPr>
              <a:t>0.</a:t>
            </a:r>
            <a:endParaRPr kumimoji="1" lang="en-US" altLang="zh-CN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u="sng" dirty="0">
                <a:solidFill>
                  <a:srgbClr val="000000"/>
                </a:solidFill>
                <a:latin typeface="+mn-ea"/>
                <a:sym typeface="+mn-ea"/>
              </a:rPr>
              <a:t>超出范围，系统报错。</a:t>
            </a:r>
            <a:endParaRPr kumimoji="1" lang="en-US" altLang="zh-CN" sz="12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n*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/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，尾零不输出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&lt;&lt; '*';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S,t,u,d,e,n,t,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S*t*u*d*e*n*t*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/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不输出，在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后面加上一个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，在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后面也加上一个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，输出时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紧挨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着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，说明没有其他字符输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出。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/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跟数组名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不是数组元素名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a[]="Student\0china";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("%s*\n",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14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数组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__14____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最后是否还有隐含的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？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_7___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之前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29985" y="779780"/>
            <a:ext cx="3973195" cy="6078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烫烫烫腾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???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烫烫烫腾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字符串的输出规则是从起始地址开始逐个输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出字符，直到遇到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'\0'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为止。由于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没有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尾零，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printf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cout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会继续读取内存中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a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之后的内容（随机数据），直到偶然遇到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某个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'\0'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才停止，因此输出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China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后跟着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乱码。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不会，因为循环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明确限定了输出范围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（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i=0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到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i=4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），只输出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a[0]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到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a[4] 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5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个字符，不会越界读取内存。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不初始化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318895"/>
            <a:ext cx="3096260" cy="51714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η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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η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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没有初始化，里面内容随机，可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能没有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‘\0’,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会继续读取下去，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出现乱码。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都正常，乱码的具体内容和行数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取决于运行时内存的随机状态，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每次运行结果可能不同。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尾零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/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AutoShape 4"/>
            <p:cNvSpPr/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数组元素名形式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&amp;a[3]);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&amp;a[3]);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AutoShape 4"/>
          <p:cNvSpPr/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&amp;a[3];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065" y="1336675"/>
            <a:ext cx="3157855" cy="5153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输入输出时，表示形式都是</a:t>
            </a:r>
            <a:r>
              <a:rPr kumimoji="1" lang="zh-CN" altLang="en-US" sz="12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字符串加上尾零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2800" b="1" dirty="0">
                <a:latin typeface="+mn-ea"/>
              </a:rPr>
              <a:t>cin &gt;&gt; &amp;</a:t>
            </a:r>
            <a:r>
              <a:rPr lang="zh-CN" altLang="en-US" sz="2800" b="1" dirty="0">
                <a:latin typeface="+mn-ea"/>
              </a:rPr>
              <a:t>数组名</a:t>
            </a:r>
            <a:r>
              <a:rPr lang="en-US" altLang="zh-CN" sz="2800" b="1" dirty="0">
                <a:latin typeface="+mn-ea"/>
              </a:rPr>
              <a:t>[</a:t>
            </a:r>
            <a:r>
              <a:rPr lang="zh-CN" altLang="en-US" sz="2800" b="1" dirty="0">
                <a:latin typeface="+mn-ea"/>
              </a:rPr>
              <a:t>起始下标</a:t>
            </a:r>
            <a:r>
              <a:rPr lang="en-US" altLang="zh-CN" sz="2800" b="1" dirty="0">
                <a:latin typeface="+mn-ea"/>
              </a:rPr>
              <a:t>]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287061" y="1611217"/>
          <a:ext cx="6984776" cy="2374687"/>
        </p:xfrm>
        <a:graphic>
          <a:graphicData uri="http://schemas.openxmlformats.org/drawingml/2006/table">
            <a:tbl>
              <a:tblPr/>
              <a:tblGrid>
                <a:gridCol w="2088232"/>
                <a:gridCol w="2520280"/>
                <a:gridCol w="2376264"/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scanf(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"%s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",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数组名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dirty="0">
                        <a:ln>
                          <a:noFill/>
                        </a:ln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("%c", 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元素名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printf(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"%s",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数组名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任一元素开始输入串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起始下标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起始下标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任一元素开始输出串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起始下标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起始下标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("%s-%s\n", a, 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____B_____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_____B____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VS2022 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Dev C++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无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字符数组名，最大长度，</a:t>
            </a:r>
            <a:r>
              <a:rPr lang="en-US" altLang="zh-CN" sz="1600" b="1" dirty="0" err="1">
                <a:latin typeface="+mn-ea"/>
              </a:rPr>
              <a:t>stdin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958850"/>
            <a:ext cx="3306445" cy="5531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字符串存储需要额外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字节存放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'\0'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，因此有效输入长度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组长度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996315"/>
            <a:ext cx="3242310" cy="54940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程序运行卡死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程序运行卡死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字符串存储需要额外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1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字节存放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'\0'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，因此有效输入长度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组长度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- 1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均可用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(a,10,stdin);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62560"/>
            <a:ext cx="4975860" cy="7477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97 98 99 32 100 101 102 10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120 121 122 10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会保留输入中的换行符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观察换行符是否也有输出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aaaaaaaaaaaaaaaaaaa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97 97 97 97 97 97 97 97 97 97 97 97 97 97 97 97 97 97 97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aaaaaaaaaaaaaaaaaaa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97 97 97 97 97 97 97 97 97 97 97 97 97 97 97 97 97 97 97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("a[0][2]=%c\n", a[0][2]);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3931285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%c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("a[0]=%s\n", a[0]);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837055"/>
            <a:ext cx="4239260" cy="46532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985280" y="5279337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527050"/>
            <a:ext cx="4857750" cy="6226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a[1]=aaaaaaaaaaaaaaaaaaaa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a[1]=aaaaaaaaaaaaaaaaaaaaaaaaaaaaaaaaaaaa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a[2]=aaaaaa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a[1]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输满，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输出剩余字符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系统报错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a[1];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同上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中是什么？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30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字节空间被填满（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字符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+ \0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）。多余字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符继续写入相邻内存（即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a[2]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的空间）。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是输入字符串超出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部分的剩余字符。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：简述你是怎么理解二维数组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越界的？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当向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写入超长数据时，会依次覆盖：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填满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30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字节。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继续写入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 a[2]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的空间（即越界到下一行）。</a:t>
            </a:r>
            <a:endParaRPr kumimoji="1" lang="en-US" altLang="zh-CN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若继续溢出，可能破坏其他变量或导致段错误。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540510"/>
            <a:ext cx="4653915" cy="4949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怎样输出单个字符？用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怎样输出字符串？用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&amp;s,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sym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("a[0][2]=%s\n", &amp;a[0][0]); </a:t>
            </a:r>
            <a:endParaRPr kumimoji="1" lang="zh-CN" altLang="zh-CN" sz="1600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sym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 &lt;&lt; "a[2][0]=" &lt;&lt; &amp;a[2][0]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sym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675640"/>
            <a:ext cx="5259070" cy="58146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a[1][3]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填入输入字符</a:t>
            </a:r>
            <a:endParaRPr kumimoji="1" lang="en-US" altLang="zh-CN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27-56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a[1][3]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填满输入字符，</a:t>
            </a:r>
            <a:endParaRPr kumimoji="1" lang="zh-CN" altLang="en-US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剩余字符填入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系统报错</a:t>
            </a:r>
            <a:endParaRPr kumimoji="1" lang="en-US" altLang="zh-CN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&amp;a[1][3];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同上</a:t>
            </a:r>
            <a:endParaRPr kumimoji="1" lang="en-US" altLang="zh-CN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27~56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中是什么？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的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30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字节空间被填满（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29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字符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 + \0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）。多余字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符继续写入相邻内存（即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 a[2]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的空间）。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是输入字符串超出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sym typeface="+mn-ea"/>
              </a:rPr>
              <a:t> a[1]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  <a:sym typeface="+mn-ea"/>
              </a:rPr>
              <a:t>部分的剩余字符。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：如果想不影响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差别在哪？本例是从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a[1][3]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开始填入，少三个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16226</Words>
  <Application>WPS 演示</Application>
  <PresentationFormat>宽屏</PresentationFormat>
  <Paragraphs>1580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foulen</cp:lastModifiedBy>
  <cp:revision>46</cp:revision>
  <dcterms:created xsi:type="dcterms:W3CDTF">2020-08-13T13:39:00Z</dcterms:created>
  <dcterms:modified xsi:type="dcterms:W3CDTF">2025-05-07T15:37:31Z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530C1A2882B74606ACBF42EB573FD3E5_12</vt:lpwstr>
  </property>
  <property fmtid="{D5CDD505-2E9C-101B-9397-08002B2CF9AE}" pid="3" name="KSOProductBuildVer">
    <vt:lpwstr>2052-12.1.0.20784</vt:lpwstr>
  </property>
</Properties>
</file>