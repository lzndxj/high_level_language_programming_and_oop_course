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838" r:id="rId3"/>
    <p:sldId id="1309" r:id="rId4"/>
    <p:sldId id="990" r:id="rId6"/>
    <p:sldId id="992" r:id="rId7"/>
    <p:sldId id="993" r:id="rId8"/>
    <p:sldId id="1238" r:id="rId9"/>
    <p:sldId id="1244" r:id="rId10"/>
    <p:sldId id="1245" r:id="rId11"/>
    <p:sldId id="1239" r:id="rId12"/>
    <p:sldId id="1246" r:id="rId13"/>
    <p:sldId id="1247" r:id="rId14"/>
    <p:sldId id="1240" r:id="rId15"/>
    <p:sldId id="1248" r:id="rId16"/>
    <p:sldId id="1249" r:id="rId17"/>
    <p:sldId id="1250" r:id="rId18"/>
    <p:sldId id="1241" r:id="rId19"/>
    <p:sldId id="1251" r:id="rId20"/>
    <p:sldId id="1252" r:id="rId21"/>
    <p:sldId id="1253" r:id="rId22"/>
    <p:sldId id="1254" r:id="rId23"/>
    <p:sldId id="1242" r:id="rId24"/>
    <p:sldId id="1255" r:id="rId25"/>
    <p:sldId id="1256" r:id="rId26"/>
    <p:sldId id="1257" r:id="rId27"/>
    <p:sldId id="1243" r:id="rId28"/>
    <p:sldId id="1258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10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</a:t>
            </a:r>
            <a:r>
              <a:rPr lang="zh-CN" altLang="en-US" sz="2800" b="1">
                <a:latin typeface="+mn-ea"/>
              </a:rPr>
              <a:t>知识题 </a:t>
            </a:r>
            <a:r>
              <a:rPr lang="en-US" altLang="zh-CN" sz="2800" b="1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总体知识：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常用字符串处理函数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①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 (const char s[]);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② </a:t>
            </a:r>
            <a:r>
              <a:rPr lang="en-US" altLang="zh-CN" sz="1600" b="1" dirty="0" err="1">
                <a:latin typeface="+mn-ea"/>
              </a:rPr>
              <a:t>strcat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③ </a:t>
            </a:r>
            <a:r>
              <a:rPr lang="en-US" altLang="zh-CN" sz="1600" b="1" dirty="0" err="1">
                <a:latin typeface="+mn-ea"/>
              </a:rPr>
              <a:t>strncat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④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⑤ 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⑥ </a:t>
            </a:r>
            <a:r>
              <a:rPr lang="en-US" altLang="zh-CN" sz="1600" b="1" dirty="0" err="1">
                <a:latin typeface="+mn-ea"/>
              </a:rPr>
              <a:t>strcmp</a:t>
            </a:r>
            <a:r>
              <a:rPr lang="en-US" altLang="zh-CN" sz="1600" b="1" dirty="0">
                <a:latin typeface="+mn-ea"/>
              </a:rPr>
              <a:t> (const char s1[], const char s2[]);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⑦ </a:t>
            </a:r>
            <a:r>
              <a:rPr lang="en-US" altLang="zh-CN" sz="1600" b="1" dirty="0" err="1">
                <a:latin typeface="+mn-ea"/>
              </a:rPr>
              <a:t>strncmp</a:t>
            </a:r>
            <a:r>
              <a:rPr lang="en-US" altLang="zh-CN" sz="1600" b="1" dirty="0">
                <a:latin typeface="+mn-ea"/>
              </a:rPr>
              <a:t>(const char s1[], const char s2[],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更多的字符串处理函数通过作业完成并理解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教材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参考资料中，很多形式是 </a:t>
            </a:r>
            <a:r>
              <a:rPr lang="en-US" altLang="zh-CN" sz="1600" b="1" dirty="0">
                <a:latin typeface="+mn-ea"/>
              </a:rPr>
              <a:t>const char *s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暂时忽略</a:t>
            </a:r>
            <a:r>
              <a:rPr lang="zh-CN" altLang="en-US" sz="1600" b="1" dirty="0">
                <a:latin typeface="+mn-ea"/>
              </a:rPr>
              <a:t>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先不要考虑这些函数的返回值，待学习指针后再进一步理解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能：求字符串的长度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输入参数：存放字符串的字符数组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返 回 值：整型值表示的长度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注意事项：返回第一个</a:t>
            </a:r>
            <a:r>
              <a:rPr lang="en-US" altLang="zh-CN" sz="1600" b="1" dirty="0">
                <a:latin typeface="+mn-ea"/>
              </a:rPr>
              <a:t>'\0'</a:t>
            </a:r>
            <a:r>
              <a:rPr lang="zh-CN" altLang="en-US" sz="1600" b="1" dirty="0">
                <a:latin typeface="+mn-ea"/>
              </a:rPr>
              <a:t>前的字符数量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不含</a:t>
            </a:r>
            <a:r>
              <a:rPr lang="en-US" altLang="zh-CN" sz="1600" b="1" dirty="0">
                <a:latin typeface="+mn-ea"/>
              </a:rPr>
              <a:t>'\0'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：字符数组与字符串长度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490718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str1[]="Hello";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str2[]="china\0Hello\0\0";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读操作，不需要加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_CRT_SECURE_NO_WARNINGS</a:t>
            </a:r>
            <a:endParaRPr kumimoji="1" lang="en-US" altLang="zh-CN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、求数组长度时，无论是否有显式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，最后一定有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、当含有多个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时，字符串长度计算到</a:t>
            </a:r>
            <a:r>
              <a:rPr lang="zh-CN" altLang="en-US" sz="1600" b="1" u="sng" dirty="0">
                <a:latin typeface="宋体" panose="02010600030101010101" pitchFamily="2" charset="-122"/>
                <a:ea typeface="宋体" panose="02010600030101010101" pitchFamily="2" charset="-122"/>
              </a:rPr>
              <a:t>第一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为止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642811" y="1263316"/>
            <a:ext cx="368887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835" y="1756410"/>
            <a:ext cx="1428750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含尾零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两串总长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：字符串连接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str1[30]="Tongji ";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不能缺省，至少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18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!!!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数组的默认长度是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__30___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、结合前面字符数组输入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输出的作业，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复制时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（包含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不包含）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src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2150" y="1714500"/>
            <a:ext cx="271462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：字符串连接（错误）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str1[]="Tongji 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?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___18__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两串总长</a:t>
            </a:r>
            <a:r>
              <a:rPr lang="en-US" altLang="zh-CN" sz="1600" b="1" dirty="0">
                <a:latin typeface="+mn-ea"/>
              </a:rPr>
              <a:t>+1________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" name="直接箭头连接符 2"/>
          <p:cNvCxnSpPr/>
          <p:nvPr/>
        </p:nvCxnSpPr>
        <p:spPr bwMode="auto">
          <a:xfrm>
            <a:off x="2153653" y="2680138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190" y="1801495"/>
            <a:ext cx="3761740" cy="24377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个字符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长度，则只连接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原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dst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+n+1)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str1[30]="Tongji 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str2[30]="Tongji 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str3[]="University";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(str2, str3, 300)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但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表示的字符串的长度时，连接规则是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将</a:t>
            </a:r>
            <a:r>
              <a:rPr lang="en-US" altLang="zh-CN" sz="1600" b="1" dirty="0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全部接入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410" y="1642110"/>
            <a:ext cx="27622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个字符（错误）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str1[]="Tongji 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str3[]="University";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缺省长度为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330" y="5221605"/>
            <a:ext cx="9428480" cy="13360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u="sng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zh-CN" altLang="en-US" sz="1600" b="1" u="sng" dirty="0">
                <a:latin typeface="+mn-ea"/>
              </a:rPr>
              <a:t>原</a:t>
            </a:r>
            <a:r>
              <a:rPr lang="en-US" altLang="zh-CN" sz="1600" b="1" u="sng" dirty="0">
                <a:latin typeface="+mn-ea"/>
              </a:rPr>
              <a:t>dst</a:t>
            </a:r>
            <a:r>
              <a:rPr lang="zh-CN" altLang="en-US" sz="1600" b="1" u="sng" dirty="0">
                <a:latin typeface="+mn-ea"/>
              </a:rPr>
              <a:t>长度</a:t>
            </a:r>
            <a:r>
              <a:rPr lang="en-US" altLang="zh-CN" sz="1600" b="1" u="sng" dirty="0">
                <a:latin typeface="+mn-ea"/>
              </a:rPr>
              <a:t>+</a:t>
            </a:r>
            <a:r>
              <a:rPr lang="zh-CN" altLang="en-US" sz="1600" b="1" u="sng" dirty="0">
                <a:latin typeface="+mn-ea"/>
              </a:rPr>
              <a:t>原</a:t>
            </a:r>
            <a:r>
              <a:rPr lang="en-US" altLang="zh-CN" sz="1600" b="1" u="sng" dirty="0">
                <a:latin typeface="+mn-ea"/>
              </a:rPr>
              <a:t>src</a:t>
            </a:r>
            <a:r>
              <a:rPr lang="zh-CN" altLang="en-US" sz="1600" b="1" u="sng" dirty="0">
                <a:latin typeface="+mn-ea"/>
              </a:rPr>
              <a:t>长度</a:t>
            </a:r>
            <a:r>
              <a:rPr lang="en-US" altLang="zh-CN" sz="1600" b="1" u="sng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>
            <a:off x="2165685" y="2764359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475" y="1625600"/>
            <a:ext cx="3822700" cy="34328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：字符串拷贝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330" y="5221605"/>
            <a:ext cx="9806940" cy="1268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、字符串复制时，复制到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最后一位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为止，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，之后的字符不再复制。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、在运行截图中用箭头指出证明结论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的位置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475" y="1263015"/>
            <a:ext cx="4201795" cy="39585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475" y="1739900"/>
            <a:ext cx="2895600" cy="718185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V="1">
            <a:off x="7962900" y="2513330"/>
            <a:ext cx="376555" cy="10756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：字符串拷贝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b[]="hello\0china";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数组的默认大小时</a:t>
            </a:r>
            <a:r>
              <a:rPr lang="en-US" altLang="zh-CN" sz="1600" b="1" dirty="0">
                <a:latin typeface="+mn-ea"/>
              </a:rPr>
              <a:t>____8_______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数组的默认大小是</a:t>
            </a:r>
            <a:r>
              <a:rPr lang="en-US" altLang="zh-CN" sz="1600" b="1" dirty="0">
                <a:latin typeface="+mn-ea"/>
              </a:rPr>
              <a:t>_____12_______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数组的大小超过了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数组的大小，为什么运行不出错？复制到第一个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就停止了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、本例中，复制到</a:t>
            </a:r>
            <a:r>
              <a:rPr lang="en-US" altLang="zh-CN" sz="1600" b="1" dirty="0">
                <a:latin typeface="+mn-ea"/>
              </a:rPr>
              <a:t>b[5]</a:t>
            </a:r>
            <a:r>
              <a:rPr lang="zh-CN" altLang="en-US" sz="1600" b="1" dirty="0">
                <a:latin typeface="+mn-ea"/>
              </a:rPr>
              <a:t>就停止复制了？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375" y="1731645"/>
            <a:ext cx="320040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：字符串拷贝（有错）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]="student", b[]="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hellochina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、本程序为什么会错？数组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大小超过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、仅改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的定义使正确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如何做？（直接在上面的源程序中用红色写出修改内容即可）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u="sng" dirty="0">
                <a:latin typeface="+mn-ea"/>
              </a:rPr>
              <a:t>strlen(src) + 1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405" y="1734185"/>
            <a:ext cx="356997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只复制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(min(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,n)+1)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 b, 2);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本程序证明了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zh-CN" altLang="en-US" sz="1600" b="1" dirty="0">
                <a:latin typeface="+mn-ea"/>
              </a:rPr>
              <a:t>复制时，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075" y="1705610"/>
            <a:ext cx="382905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char a[]="student", b[]="hello";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 &amp;b[2], 2);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=0;i&lt;8;i++)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如果想从</a:t>
            </a:r>
            <a:r>
              <a:rPr lang="en-US" altLang="zh-CN" sz="1600" b="1" dirty="0">
                <a:latin typeface="+mn-ea"/>
              </a:rPr>
              <a:t>b[2]</a:t>
            </a:r>
            <a:r>
              <a:rPr lang="zh-CN" altLang="en-US" sz="1600" b="1" dirty="0">
                <a:latin typeface="+mn-ea"/>
              </a:rPr>
              <a:t>开始复制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个字符到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中，如何做？（即期望输出：</a:t>
            </a:r>
            <a:r>
              <a:rPr lang="en-US" altLang="zh-CN" sz="1600" b="1" dirty="0" err="1">
                <a:latin typeface="+mn-ea"/>
              </a:rPr>
              <a:t>lludent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（直接在源程序中修改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位置即可）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6175" y="1830070"/>
            <a:ext cx="3695700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  <a:endParaRPr lang="en-US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12;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12;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330" y="5221605"/>
            <a:ext cx="9127490" cy="126809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观察两个</a:t>
            </a:r>
            <a:r>
              <a:rPr lang="en-US" altLang="zh-CN" sz="1600" b="1" dirty="0">
                <a:latin typeface="+mn-ea"/>
              </a:rPr>
              <a:t>for</a:t>
            </a:r>
            <a:r>
              <a:rPr lang="zh-CN" altLang="en-US" sz="1600" b="1" dirty="0">
                <a:latin typeface="+mn-ea"/>
              </a:rPr>
              <a:t>循环的后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个数字的输出，能得到什么结论？（提示：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长度是到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为止吗</a:t>
            </a:r>
            <a:r>
              <a:rPr lang="en-US" altLang="zh-CN" sz="1600" b="1" dirty="0">
                <a:latin typeface="+mn-ea"/>
              </a:rPr>
              <a:t>?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n </a:t>
            </a:r>
            <a:r>
              <a:rPr lang="zh-CN" altLang="en-US" sz="1600" b="1" dirty="0">
                <a:latin typeface="+mn-ea"/>
              </a:rPr>
              <a:t>超过</a:t>
            </a:r>
            <a:r>
              <a:rPr lang="en-US" altLang="zh-CN" sz="1600" b="1" dirty="0">
                <a:latin typeface="+mn-ea"/>
              </a:rPr>
              <a:t> src </a:t>
            </a:r>
            <a:r>
              <a:rPr lang="zh-CN" altLang="en-US" sz="1600" b="1" dirty="0">
                <a:latin typeface="+mn-ea"/>
              </a:rPr>
              <a:t>长度时：</a:t>
            </a:r>
            <a:r>
              <a:rPr lang="en-US" altLang="zh-CN" sz="1600" b="1" dirty="0">
                <a:latin typeface="+mn-ea"/>
              </a:rPr>
              <a:t>strncpy </a:t>
            </a:r>
            <a:r>
              <a:rPr lang="zh-CN" altLang="en-US" sz="1600" b="1" dirty="0">
                <a:latin typeface="+mn-ea"/>
              </a:rPr>
              <a:t>会复制到</a:t>
            </a:r>
            <a:r>
              <a:rPr lang="en-US" altLang="zh-CN" sz="1600" b="1" dirty="0">
                <a:latin typeface="+mn-ea"/>
              </a:rPr>
              <a:t> src 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 \0</a:t>
            </a:r>
            <a:r>
              <a:rPr lang="zh-CN" altLang="en-US" sz="1600" b="1" dirty="0">
                <a:latin typeface="+mn-ea"/>
              </a:rPr>
              <a:t>，然后用</a:t>
            </a:r>
            <a:r>
              <a:rPr lang="en-US" altLang="zh-CN" sz="1600" b="1" dirty="0">
                <a:latin typeface="+mn-ea"/>
              </a:rPr>
              <a:t> \0 </a:t>
            </a:r>
            <a:r>
              <a:rPr lang="zh-CN" altLang="en-US" sz="1600" b="1" dirty="0">
                <a:latin typeface="+mn-ea"/>
              </a:rPr>
              <a:t>填充剩余空间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也有可能用编译器</a:t>
            </a:r>
            <a:endParaRPr lang="zh-CN" altLang="en-US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自定义的字符</a:t>
            </a:r>
            <a:r>
              <a:rPr lang="zh-CN" altLang="en-US" sz="1600" b="1" dirty="0">
                <a:latin typeface="+mn-ea"/>
              </a:rPr>
              <a:t>填充。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Dev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3495" y="630555"/>
            <a:ext cx="3360420" cy="30124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25" y="3707130"/>
            <a:ext cx="4800600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  <a:endParaRPr lang="en-US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20;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20;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超过了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的长度，则</a:t>
            </a:r>
            <a:r>
              <a:rPr lang="en-US" altLang="zh-CN" sz="1600" b="1" u="sng" dirty="0">
                <a:latin typeface="+mn-ea"/>
                <a:sym typeface="+mn-ea"/>
              </a:rPr>
              <a:t>strncpy </a:t>
            </a:r>
            <a:r>
              <a:rPr lang="zh-CN" altLang="en-US" sz="1600" b="1" u="sng" dirty="0">
                <a:latin typeface="+mn-ea"/>
                <a:sym typeface="+mn-ea"/>
              </a:rPr>
              <a:t>会复制到</a:t>
            </a:r>
            <a:r>
              <a:rPr lang="en-US" altLang="zh-CN" sz="1600" b="1" u="sng" dirty="0">
                <a:latin typeface="+mn-ea"/>
                <a:sym typeface="+mn-ea"/>
              </a:rPr>
              <a:t> src </a:t>
            </a:r>
            <a:r>
              <a:rPr lang="zh-CN" altLang="en-US" sz="1600" b="1" u="sng" dirty="0">
                <a:latin typeface="+mn-ea"/>
                <a:sym typeface="+mn-ea"/>
              </a:rPr>
              <a:t>的</a:t>
            </a:r>
            <a:r>
              <a:rPr lang="en-US" altLang="zh-CN" sz="1600" b="1" u="sng" dirty="0">
                <a:latin typeface="+mn-ea"/>
                <a:sym typeface="+mn-ea"/>
              </a:rPr>
              <a:t> \0</a:t>
            </a:r>
            <a:r>
              <a:rPr lang="zh-CN" altLang="en-US" sz="1600" b="1" u="sng" dirty="0">
                <a:latin typeface="+mn-ea"/>
                <a:sym typeface="+mn-ea"/>
              </a:rPr>
              <a:t>，然后用</a:t>
            </a:r>
            <a:r>
              <a:rPr lang="en-US" altLang="zh-CN" sz="1600" b="1" u="sng" dirty="0">
                <a:latin typeface="+mn-ea"/>
                <a:sym typeface="+mn-ea"/>
              </a:rPr>
              <a:t> \0 </a:t>
            </a:r>
            <a:r>
              <a:rPr lang="zh-CN" altLang="en-US" sz="1600" b="1" u="sng" dirty="0">
                <a:latin typeface="+mn-ea"/>
                <a:sym typeface="+mn-ea"/>
              </a:rPr>
              <a:t>填充剩余空间</a:t>
            </a:r>
            <a:r>
              <a:rPr lang="en-US" altLang="zh-CN" sz="1600" b="1" u="sng" dirty="0">
                <a:latin typeface="+mn-ea"/>
                <a:sym typeface="+mn-ea"/>
              </a:rPr>
              <a:t>,</a:t>
            </a:r>
            <a:endParaRPr lang="en-US" altLang="zh-CN" sz="1600" b="1" u="sng" dirty="0">
              <a:latin typeface="+mn-ea"/>
              <a:sym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u="sng" dirty="0">
                <a:latin typeface="+mn-ea"/>
                <a:sym typeface="+mn-ea"/>
              </a:rPr>
              <a:t>也有可能用编译器自定义的字符填充。</a:t>
            </a:r>
            <a:endParaRPr lang="en-US" altLang="zh-CN" sz="1600" b="1" u="sng" dirty="0">
              <a:latin typeface="+mn-ea"/>
            </a:endParaRPr>
          </a:p>
          <a:p>
            <a:pPr>
              <a:spcBef>
                <a:spcPts val="670"/>
              </a:spcBef>
            </a:pPr>
            <a:endParaRPr lang="en-US" altLang="zh-CN" sz="1600" b="1" u="sng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VS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Dev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下程序的运行结果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2995863" y="1792705"/>
            <a:ext cx="1636295" cy="67376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同上例，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数组越界到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20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9830" y="370840"/>
            <a:ext cx="4413885" cy="29851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465" y="3755390"/>
            <a:ext cx="5134610" cy="8680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的大小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：字符串比较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str1[] = "house", str2[]  = "horse";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str3[] = "abcd",  str4[]  = "abcde";</a:t>
            </a:r>
            <a:endParaRPr kumimoji="1" lang="de-DE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str5[]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str6[]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str7[]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str8[]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str9[]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str10[]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\0efgh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(str3, str4)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(str5, str6)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(str7, str8)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(str9, str10)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问题：两个字符串相等的条件是？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到第一个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之前完全相同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785" y="1785620"/>
            <a:ext cx="1228725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：字符串比较（另一种形式）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str1[]="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str2[]="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(str1, str2);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if (k==0)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=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else if (k&lt;0)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&lt;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else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&gt;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330" y="5222240"/>
            <a:ext cx="9331960" cy="12674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问题：给出两个字符串比较的执行过程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第</a:t>
            </a:r>
            <a:r>
              <a:rPr lang="en-US" altLang="zh-CN" sz="1600" b="1" dirty="0">
                <a:latin typeface="+mn-ea"/>
              </a:rPr>
              <a:t>1~4</a:t>
            </a:r>
            <a:r>
              <a:rPr lang="zh-CN" altLang="en-US" sz="1600" b="1" dirty="0">
                <a:latin typeface="+mn-ea"/>
              </a:rPr>
              <a:t>字符（</a:t>
            </a:r>
            <a:r>
              <a:rPr lang="en-US" altLang="zh-CN" sz="1600" b="1" dirty="0">
                <a:latin typeface="+mn-ea"/>
              </a:rPr>
              <a:t>a/b/c/d</a:t>
            </a:r>
            <a:r>
              <a:rPr lang="zh-CN" altLang="en-US" sz="1600" b="1" dirty="0">
                <a:latin typeface="+mn-ea"/>
              </a:rPr>
              <a:t>）：完全相等，继续比较。第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字符：</a:t>
            </a:r>
            <a:r>
              <a:rPr lang="en-US" altLang="zh-CN" sz="1600" b="1" dirty="0">
                <a:latin typeface="+mn-ea"/>
              </a:rPr>
              <a:t>str1[4] = '\0'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ASCII 0</a:t>
            </a:r>
            <a:r>
              <a:rPr lang="zh-CN" altLang="en-US" sz="1600" b="1" dirty="0">
                <a:latin typeface="+mn-ea"/>
              </a:rPr>
              <a:t>，字符串结束符）</a:t>
            </a: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str2[4] = 'e'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ASCII 101</a:t>
            </a:r>
            <a:r>
              <a:rPr lang="zh-CN" altLang="en-US" sz="1600" b="1" dirty="0">
                <a:latin typeface="+mn-ea"/>
              </a:rPr>
              <a:t>）比较结果：</a:t>
            </a:r>
            <a:r>
              <a:rPr lang="en-US" altLang="zh-CN" sz="1600" b="1" dirty="0">
                <a:latin typeface="+mn-ea"/>
              </a:rPr>
              <a:t>'\0' (0) &lt; 'e' (101)</a:t>
            </a:r>
            <a:r>
              <a:rPr lang="zh-CN" altLang="en-US" sz="1600" b="1" dirty="0">
                <a:latin typeface="+mn-ea"/>
              </a:rPr>
              <a:t>，因此</a:t>
            </a:r>
            <a:r>
              <a:rPr lang="en-US" altLang="zh-CN" sz="1600" b="1" dirty="0">
                <a:latin typeface="+mn-ea"/>
              </a:rPr>
              <a:t> str1 &lt; str2</a:t>
            </a:r>
            <a:r>
              <a:rPr lang="zh-CN" altLang="en-US" sz="1600" b="1" dirty="0">
                <a:latin typeface="+mn-ea"/>
              </a:rPr>
              <a:t>。</a:t>
            </a:r>
            <a:endParaRPr lang="zh-CN" altLang="en-US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670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350" y="1715770"/>
            <a:ext cx="265049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：字符串比较（编译不错，但运行结果与期望不符合）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str1[]="house", str2[]="horse";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k = str1 &lt; str2;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这个程序的运行结果是表示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str2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内存地址</a:t>
            </a:r>
            <a:r>
              <a:rPr lang="en-US" altLang="zh-CN" sz="1600" b="1" dirty="0">
                <a:latin typeface="+mn-ea"/>
              </a:rPr>
              <a:t>_______</a:t>
            </a:r>
            <a:r>
              <a:rPr lang="zh-CN" altLang="en-US" sz="1600" b="1" dirty="0">
                <a:latin typeface="+mn-ea"/>
              </a:rPr>
              <a:t>进行比较。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str1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的内容互换，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str1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都置为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"house",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8285" y="1723390"/>
            <a:ext cx="1381125" cy="6667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285" y="3052445"/>
            <a:ext cx="1990725" cy="752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660" y="4467225"/>
            <a:ext cx="2085975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个字符的大小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要比较的长度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zh-CN" altLang="en-US" sz="28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：字符串比较前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str1[] = "abcd",  str2[]  = "abcde";</a:t>
            </a:r>
            <a:endParaRPr kumimoji="1" lang="de-DE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3)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4)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5)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100)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>
              <a:spcBef>
                <a:spcPts val="670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小于短串长度时，则比较到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第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。</a:t>
            </a:r>
            <a:endParaRPr lang="zh-CN" altLang="en-US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大于等于短串长度时，则比较到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短串的</a:t>
            </a:r>
            <a:r>
              <a:rPr lang="en-US" altLang="zh-CN" sz="1600" b="1" dirty="0">
                <a:latin typeface="+mn-ea"/>
              </a:rPr>
              <a:t>\0_________</a:t>
            </a:r>
            <a:r>
              <a:rPr lang="zh-CN" altLang="en-US" sz="1600" b="1" dirty="0">
                <a:latin typeface="+mn-ea"/>
              </a:rPr>
              <a:t>为止。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0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超过长串的长度，则比较到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长串的</a:t>
            </a:r>
            <a:r>
              <a:rPr lang="en-US" altLang="zh-CN" sz="1600" b="1" dirty="0">
                <a:latin typeface="+mn-ea"/>
              </a:rPr>
              <a:t>\0__________</a:t>
            </a:r>
            <a:r>
              <a:rPr lang="zh-CN" altLang="en-US" sz="1600" b="1" dirty="0">
                <a:latin typeface="+mn-ea"/>
              </a:rPr>
              <a:t>为止。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也置为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abcd</a:t>
            </a: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给出程序的运行结果</a:t>
            </a: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7320" y="1704340"/>
            <a:ext cx="1695450" cy="1371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195" y="3717290"/>
            <a:ext cx="1495425" cy="1314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10304</Words>
  <Application>WPS 演示</Application>
  <PresentationFormat>宽屏</PresentationFormat>
  <Paragraphs>811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foulen</cp:lastModifiedBy>
  <cp:revision>57</cp:revision>
  <dcterms:created xsi:type="dcterms:W3CDTF">2020-08-13T13:39:00Z</dcterms:created>
  <dcterms:modified xsi:type="dcterms:W3CDTF">2025-05-08T15:06:36Z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B1782FA6EBAD40769CD5EAF73B31892E_12</vt:lpwstr>
  </property>
  <property fmtid="{D5CDD505-2E9C-101B-9397-08002B2CF9AE}" pid="3" name="KSOProductBuildVer">
    <vt:lpwstr>2052-12.1.0.20784</vt:lpwstr>
  </property>
</Properties>
</file>