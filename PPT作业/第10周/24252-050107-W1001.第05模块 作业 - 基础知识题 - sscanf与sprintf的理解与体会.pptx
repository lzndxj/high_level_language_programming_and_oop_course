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552" r:id="rId3"/>
    <p:sldId id="1309" r:id="rId4"/>
    <p:sldId id="644" r:id="rId6"/>
    <p:sldId id="558" r:id="rId7"/>
    <p:sldId id="1241" r:id="rId8"/>
    <p:sldId id="1240" r:id="rId9"/>
    <p:sldId id="645" r:id="rId10"/>
    <p:sldId id="1242" r:id="rId11"/>
    <p:sldId id="1243" r:id="rId12"/>
    <p:sldId id="1244" r:id="rId13"/>
    <p:sldId id="1245" r:id="rId14"/>
    <p:sldId id="1246" r:id="rId15"/>
    <p:sldId id="124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D9F12-298F-4BA9-885E-BCD438E8F58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42DF3-6CE2-4BE7-9CDC-EAAC6AF6F41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3B832-CABD-439C-B200-DDE8714B0B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C15D7-5788-41E7-9CAD-BCD4FE0C0C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29E1C2-8757-4943-BB0D-44D6A40AC3C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EE0AD-AA26-4B0C-B2A5-065307B692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4B751-1B33-4FAC-96B1-4F4734F155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ADDAC-226E-4E74-A9C7-8EDB750CC12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F1364-7677-4F0D-B113-A10E8B7764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EEE96-D9F8-4AA5-9180-644B18AD31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B05AA-070D-443F-9B69-C3D4A9E3AB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3E456CB-F1D9-4742-BD7D-0EF249B6CED9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en-US" altLang="zh-CN" sz="28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、完成本文档中所有的测试程序并填写运行结果，从而体会这些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的流成员函数的用法及区别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>
              <a:spcBef>
                <a:spcPts val="385"/>
              </a:spcBef>
            </a:pPr>
            <a:endParaRPr lang="en-US" altLang="zh-CN" sz="1600" b="1" dirty="0">
              <a:latin typeface="+mn-ea"/>
            </a:endParaRPr>
          </a:p>
          <a:p>
            <a:pPr algn="l"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基本概念：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int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字符数组，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格式串</a:t>
            </a:r>
            <a:r>
              <a:rPr lang="en-US" altLang="zh-CN" sz="1600" b="1" dirty="0">
                <a:latin typeface="+mn-ea"/>
              </a:rPr>
              <a:t>", </a:t>
            </a:r>
            <a:r>
              <a:rPr lang="zh-CN" altLang="en-US" sz="1600" b="1" dirty="0">
                <a:latin typeface="+mn-ea"/>
              </a:rPr>
              <a:t>输出表列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返回值是输出字符的个数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同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printf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字符数组要有足够空间容纳输出的数据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否则越界错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格式串同</a:t>
            </a:r>
            <a:r>
              <a:rPr lang="en-US" altLang="zh-CN" sz="1600" b="1" dirty="0" err="1">
                <a:latin typeface="+mn-ea"/>
              </a:rPr>
              <a:t>printf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VS</a:t>
            </a:r>
            <a:r>
              <a:rPr lang="zh-CN" altLang="en-US" sz="1600" b="1" dirty="0">
                <a:latin typeface="+mn-ea"/>
              </a:rPr>
              <a:t>下需加 </a:t>
            </a:r>
            <a:r>
              <a:rPr lang="en-US" altLang="zh-CN" sz="1600" b="1" dirty="0">
                <a:latin typeface="+mn-ea"/>
              </a:rPr>
              <a:t>#define _CRT_SECURE_NO_WARNINGS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int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字符数组，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格式串</a:t>
            </a:r>
            <a:r>
              <a:rPr lang="en-US" altLang="zh-CN" sz="1600" b="1" dirty="0">
                <a:latin typeface="+mn-ea"/>
              </a:rPr>
              <a:t>", </a:t>
            </a:r>
            <a:r>
              <a:rPr lang="zh-CN" altLang="en-US" sz="1600" b="1" dirty="0">
                <a:latin typeface="+mn-ea"/>
              </a:rPr>
              <a:t>输入地址表列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返回值是正确读入的输入数据的个数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同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格式串同</a:t>
            </a:r>
            <a:r>
              <a:rPr lang="en-US" altLang="zh-CN" sz="1600" b="1" dirty="0" err="1">
                <a:latin typeface="+mn-ea"/>
              </a:rPr>
              <a:t>scanf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VS</a:t>
            </a:r>
            <a:r>
              <a:rPr lang="zh-CN" altLang="en-US" sz="1600" b="1" dirty="0">
                <a:latin typeface="+mn-ea"/>
              </a:rPr>
              <a:t>下需加 </a:t>
            </a:r>
            <a:r>
              <a:rPr lang="en-US" altLang="zh-CN" sz="1600" b="1" dirty="0">
                <a:latin typeface="+mn-ea"/>
              </a:rPr>
              <a:t>#define _CRT_SECURE_NO_WARNINGS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str[80];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pi=3.1415925;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(str, "k=%-4d*pi=%.2f#", k, pi);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("str : %s\n", str);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输出结果：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7451124" y="1244869"/>
            <a:ext cx="4385741" cy="125119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、本作业的所有程序，均在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.c</a:t>
            </a:r>
            <a:endParaRPr kumimoji="1" lang="en-US" altLang="zh-CN" sz="24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方式下运行，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后续不再提示</a:t>
            </a:r>
            <a:endParaRPr kumimoji="1" lang="en-US" altLang="zh-CN" sz="24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、认真阅读第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5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章课件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!!!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320" y="5688965"/>
            <a:ext cx="3095625" cy="8953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str[80];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pi=3.1415925;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(str, "k=%6dpi=%10.2f", k, pi);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("str : %s\n", str);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的返回值是：输出字符的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个数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500" y="4759325"/>
            <a:ext cx="3733800" cy="8382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str[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pi=3.1415925;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(str, "k=%-4d*pi=%.2f#", k, pi);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("str : %s\n", str);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1/2/3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使用时对字符数组的要求是：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数组大小要有足够空间容纳输入的数据。</a:t>
            </a:r>
            <a:endParaRPr kumimoji="1" lang="zh-CN" altLang="en-US" sz="1600" b="1" u="sng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295014" y="1244870"/>
            <a:ext cx="1562985" cy="4776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VS+Dev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370" y="1139825"/>
            <a:ext cx="3706495" cy="31013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065" y="4468495"/>
            <a:ext cx="3171825" cy="9620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str[80] = "Hello 123 11.2",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ret;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(str, "%s %d 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s,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&amp;d);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("s=%s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=%d d=%f\n", s,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d);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7355" y="5095875"/>
            <a:ext cx="3657600" cy="9334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"123Hello";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结合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例和例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sscanf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的返回值是：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正确读入的输入数据个数。</a:t>
            </a:r>
            <a:endParaRPr kumimoji="1" lang="zh-CN" altLang="en-US" sz="1600" b="1" u="sng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6140" y="4420870"/>
            <a:ext cx="3267075" cy="9048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"123 456";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&amp;j,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); 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顺序反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本例说明，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中的内容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（可以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不可以）被重复读取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4720" y="5236210"/>
            <a:ext cx="1945005" cy="110553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"123 456";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("str=%s\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ni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str,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=%d j=%d",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("str=\"%s\"\n", str);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本例说明，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中的内容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（可以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不可以）被替换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7905" y="5158740"/>
            <a:ext cx="1824355" cy="11963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5" y="1244870"/>
            <a:ext cx="6312332" cy="415503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#define _CRT_SECURE_NO_WARNINGS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x, w;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</a:t>
            </a:r>
            <a:r>
              <a:rPr lang="zh-CN" altLang="en-US" sz="1600" b="1" dirty="0">
                <a:latin typeface="+mn-ea"/>
              </a:rPr>
              <a:t>请输入</a:t>
            </a:r>
            <a:r>
              <a:rPr lang="en-US" altLang="zh-CN" sz="1600" b="1" dirty="0">
                <a:latin typeface="+mn-ea"/>
              </a:rPr>
              <a:t>[1..99999]</a:t>
            </a:r>
            <a:r>
              <a:rPr lang="zh-CN" altLang="en-US" sz="1600" b="1" dirty="0">
                <a:latin typeface="+mn-ea"/>
              </a:rPr>
              <a:t>间的整数及显示宽度</a:t>
            </a:r>
            <a:r>
              <a:rPr lang="en-US" altLang="zh-CN" sz="1600" b="1" dirty="0">
                <a:latin typeface="+mn-ea"/>
              </a:rPr>
              <a:t>[6..10]\n");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("%d %d", &amp;x, &amp;w);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不考虑输入错误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("01234567890123456789\n");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标尺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endParaRPr lang="zh-CN" altLang="en-US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>
                <a:latin typeface="+mn-ea"/>
              </a:rPr>
              <a:t>char 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[16];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sprintf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, "%%%dd*\n", w);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, x);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870065" y="1244600"/>
            <a:ext cx="3470275" cy="50361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01234567890123456789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3*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01234567890123456789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123*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01234567890123456789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12345*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01234567890123456789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 3*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01234567890123456789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123*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01234567890123456789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12345*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400080" y="5029200"/>
            <a:ext cx="3470278" cy="3707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别去网上瞎查，认真阅读第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5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章课件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：键盘输入一个长度</a:t>
            </a:r>
            <a:r>
              <a:rPr lang="en-US" altLang="zh-CN" sz="1600" b="1" dirty="0">
                <a:latin typeface="+mn-ea"/>
              </a:rPr>
              <a:t>[3..12]</a:t>
            </a:r>
            <a:r>
              <a:rPr lang="zh-CN" altLang="en-US" sz="1600" b="1" dirty="0">
                <a:latin typeface="+mn-ea"/>
              </a:rPr>
              <a:t>间字符串，再输入显示宽度</a:t>
            </a:r>
            <a:r>
              <a:rPr lang="en-US" altLang="zh-CN" sz="1600" b="1" dirty="0">
                <a:latin typeface="+mn-ea"/>
              </a:rPr>
              <a:t>[</a:t>
            </a:r>
            <a:r>
              <a:rPr lang="zh-CN" altLang="en-US" sz="1600" b="1" dirty="0">
                <a:latin typeface="+mn-ea"/>
              </a:rPr>
              <a:t>长度</a:t>
            </a:r>
            <a:r>
              <a:rPr lang="en-US" altLang="zh-CN" sz="1600" b="1" dirty="0">
                <a:latin typeface="+mn-ea"/>
              </a:rPr>
              <a:t>+1..20]</a:t>
            </a:r>
            <a:r>
              <a:rPr lang="zh-CN" altLang="en-US" sz="1600" b="1" dirty="0">
                <a:latin typeface="+mn-ea"/>
              </a:rPr>
              <a:t>，左对齐输出这个字符串（最后加</a:t>
            </a:r>
            <a:r>
              <a:rPr lang="en-US" altLang="zh-CN" sz="1600" b="1" dirty="0">
                <a:latin typeface="+mn-ea"/>
              </a:rPr>
              <a:t>*</a:t>
            </a:r>
            <a:r>
              <a:rPr lang="zh-CN" altLang="en-US" sz="1600" b="1" dirty="0">
                <a:latin typeface="+mn-ea"/>
              </a:rPr>
              <a:t>分辨空格）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</a:t>
            </a:r>
            <a:r>
              <a:rPr lang="zh-CN" altLang="en-US" sz="1600" b="1" dirty="0">
                <a:latin typeface="+mn-ea"/>
              </a:rPr>
              <a:t>注：输入宽度小于等于串长则置为串长</a:t>
            </a:r>
            <a:r>
              <a:rPr lang="en-US" altLang="zh-CN" sz="1600" b="1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，不考虑其它输入错误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5" y="1578504"/>
            <a:ext cx="6312332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给出相应的代码，字体为宋体，字号根据代码量调整，不小于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号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r>
              <a:rPr kumimoji="1" lang="en-US" altLang="zh-CN" sz="900" b="1" dirty="0">
                <a:solidFill>
                  <a:srgbClr val="FF0000"/>
                </a:solidFill>
                <a:latin typeface="+mn-ea"/>
              </a:rPr>
              <a:t>//2452654 </a:t>
            </a:r>
            <a:r>
              <a:rPr kumimoji="1" lang="zh-CN" altLang="en-US" sz="900" b="1" dirty="0">
                <a:solidFill>
                  <a:srgbClr val="FF0000"/>
                </a:solidFill>
                <a:latin typeface="+mn-ea"/>
              </a:rPr>
              <a:t>郭炫君</a:t>
            </a:r>
            <a:r>
              <a:rPr kumimoji="1" lang="en-US" altLang="zh-CN" sz="9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zh-CN" altLang="en-US" sz="900" b="1" dirty="0">
                <a:solidFill>
                  <a:srgbClr val="FF0000"/>
                </a:solidFill>
                <a:latin typeface="+mn-ea"/>
              </a:rPr>
              <a:t>电信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#define _CRT_SECURE_NO_WARNINGS</a:t>
            </a:r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#include &lt;stdio.h&gt;</a:t>
            </a:r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#include &lt;string.h&gt;</a:t>
            </a:r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int main()</a:t>
            </a:r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{</a:t>
            </a:r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    char str[13]; // </a:t>
            </a:r>
            <a:r>
              <a:rPr kumimoji="1"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最大长度</a:t>
            </a:r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12 + </a:t>
            </a:r>
            <a:r>
              <a:rPr kumimoji="1"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终止符</a:t>
            </a:r>
            <a:endParaRPr kumimoji="1" lang="zh-CN" altLang="en-US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    int width;</a:t>
            </a:r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    printf("</a:t>
            </a:r>
            <a:r>
              <a:rPr kumimoji="1"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请输入长度</a:t>
            </a:r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[3..12]</a:t>
            </a:r>
            <a:r>
              <a:rPr kumimoji="1"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的字符串及显示宽度</a:t>
            </a:r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[len+1..20]\n");</a:t>
            </a:r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    scanf("%12s %d", str, &amp;width); // </a:t>
            </a:r>
            <a:r>
              <a:rPr kumimoji="1"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限制字符串长度不超过</a:t>
            </a:r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12</a:t>
            </a:r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endParaRPr kumimoji="1" lang="zh-CN" altLang="en-US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    int len = strlen(str);</a:t>
            </a:r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    if (width &lt;= len) {</a:t>
            </a:r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        width = len + 1;</a:t>
            </a:r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    }</a:t>
            </a:r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    printf("01234567890123456789\n"); // </a:t>
            </a:r>
            <a:r>
              <a:rPr kumimoji="1"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标尺</a:t>
            </a:r>
            <a:endParaRPr kumimoji="1" lang="zh-CN" altLang="en-US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    // </a:t>
            </a:r>
            <a:r>
              <a:rPr kumimoji="1"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构造格式字符串</a:t>
            </a:r>
            <a:endParaRPr kumimoji="1" lang="zh-CN" altLang="en-US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    char fmt[32];</a:t>
            </a:r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    sprintf(fmt, "%%-%ds*\n", width); // </a:t>
            </a:r>
            <a:r>
              <a:rPr kumimoji="1" lang="zh-CN" altLang="en-US" sz="1000" b="1" dirty="0">
                <a:solidFill>
                  <a:srgbClr val="FF0000"/>
                </a:solidFill>
                <a:latin typeface="+mn-ea"/>
                <a:cs typeface="+mn-ea"/>
              </a:rPr>
              <a:t>左对齐格式</a:t>
            </a:r>
            <a:endParaRPr kumimoji="1" lang="zh-CN" altLang="en-US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    printf(fmt, str);</a:t>
            </a:r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    return 0;</a:t>
            </a:r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000" b="1" dirty="0">
                <a:solidFill>
                  <a:srgbClr val="FF0000"/>
                </a:solidFill>
                <a:latin typeface="+mn-ea"/>
                <a:cs typeface="+mn-ea"/>
              </a:rPr>
              <a:t>}</a:t>
            </a:r>
            <a:endParaRPr kumimoji="1" lang="en-US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870357" y="1578503"/>
            <a:ext cx="4090086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12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、自己构造的测试样本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、自己构造的测试样本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0911" y="1951251"/>
            <a:ext cx="3714286" cy="65714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612" y="3160745"/>
            <a:ext cx="3685714" cy="64761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0" y="4360545"/>
            <a:ext cx="3498850" cy="8439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5756910"/>
            <a:ext cx="3618230" cy="9766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：键盘输入一个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型数据，再输入总显示宽度及小数点后的位数，右对齐输出这个字符串（最后加</a:t>
            </a:r>
            <a:r>
              <a:rPr lang="en-US" altLang="zh-CN" sz="1600" b="1" dirty="0">
                <a:latin typeface="+mn-ea"/>
              </a:rPr>
              <a:t>*</a:t>
            </a:r>
            <a:r>
              <a:rPr lang="zh-CN" altLang="en-US" sz="1600" b="1" dirty="0">
                <a:latin typeface="+mn-ea"/>
              </a:rPr>
              <a:t>分辨空格）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</a:t>
            </a:r>
            <a:r>
              <a:rPr lang="zh-CN" altLang="en-US" sz="1600" b="1" dirty="0">
                <a:latin typeface="+mn-ea"/>
              </a:rPr>
              <a:t>注：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5" y="1578504"/>
            <a:ext cx="6312332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给出相应的代码，字体为宋体，字号根据代码量调整，不小于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号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</a:rPr>
              <a:t>//2452654 </a:t>
            </a:r>
            <a:r>
              <a:rPr kumimoji="1" lang="zh-CN" altLang="en-US" sz="1400" b="1" dirty="0">
                <a:solidFill>
                  <a:srgbClr val="FF0000"/>
                </a:solidFill>
                <a:latin typeface="+mn-ea"/>
              </a:rPr>
              <a:t>郭炫君</a:t>
            </a:r>
            <a:r>
              <a:rPr kumimoji="1" lang="en-US" altLang="zh-CN" sz="14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zh-CN" altLang="en-US" sz="1400" b="1" dirty="0">
                <a:solidFill>
                  <a:srgbClr val="FF0000"/>
                </a:solidFill>
                <a:latin typeface="+mn-ea"/>
              </a:rPr>
              <a:t>电信</a:t>
            </a:r>
            <a:endParaRPr kumimoji="1" lang="zh-CN" altLang="en-US" sz="1400" b="1" dirty="0">
              <a:solidFill>
                <a:srgbClr val="FF0000"/>
              </a:solidFill>
              <a:latin typeface="+mn-ea"/>
            </a:endParaRPr>
          </a:p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#define _CRT_SECURE_NO_WARNINGS</a:t>
            </a:r>
            <a:endParaRPr kumimoji="1" lang="en-US" altLang="zh-CN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#include &lt;stdio.h&gt;</a:t>
            </a:r>
            <a:endParaRPr kumimoji="1" lang="en-US" altLang="zh-CN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endParaRPr kumimoji="1" lang="en-US" altLang="zh-CN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int main()</a:t>
            </a:r>
            <a:endParaRPr kumimoji="1" lang="en-US" altLang="zh-CN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{</a:t>
            </a:r>
            <a:endParaRPr kumimoji="1" lang="en-US" altLang="zh-CN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    double num;</a:t>
            </a:r>
            <a:endParaRPr kumimoji="1" lang="en-US" altLang="zh-CN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    int w</a:t>
            </a:r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idth;</a:t>
            </a:r>
            <a:endParaRPr kumimoji="1" lang="en-US" altLang="zh-CN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    int weishu;</a:t>
            </a:r>
            <a:endParaRPr kumimoji="1" lang="en-US" altLang="zh-CN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    printf("</a:t>
            </a:r>
            <a:r>
              <a:rPr kumimoji="1" lang="zh-CN" altLang="en-US" sz="1400" b="1" dirty="0">
                <a:solidFill>
                  <a:srgbClr val="FF0000"/>
                </a:solidFill>
                <a:latin typeface="+mn-ea"/>
                <a:cs typeface="+mn-ea"/>
              </a:rPr>
              <a:t>请输入</a:t>
            </a:r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double</a:t>
            </a:r>
            <a:r>
              <a:rPr kumimoji="1" lang="zh-CN" altLang="en-US" sz="1400" b="1" dirty="0">
                <a:solidFill>
                  <a:srgbClr val="FF0000"/>
                </a:solidFill>
                <a:latin typeface="+mn-ea"/>
                <a:cs typeface="+mn-ea"/>
              </a:rPr>
              <a:t>型数据及显示总宽度、小数点后位数</a:t>
            </a:r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\n");</a:t>
            </a:r>
            <a:endParaRPr kumimoji="1" lang="en-US" altLang="zh-CN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    scanf("%lf %d %d", &amp;num, &amp;width, &amp;weishu); //</a:t>
            </a:r>
            <a:r>
              <a:rPr kumimoji="1" lang="zh-CN" altLang="en-US" sz="1400" b="1" dirty="0">
                <a:solidFill>
                  <a:srgbClr val="FF0000"/>
                </a:solidFill>
                <a:latin typeface="+mn-ea"/>
                <a:cs typeface="+mn-ea"/>
              </a:rPr>
              <a:t>不考虑输入错误</a:t>
            </a:r>
            <a:endParaRPr kumimoji="1" lang="zh-CN" altLang="en-US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    printf("01234567890123456789\n"); //</a:t>
            </a:r>
            <a:r>
              <a:rPr kumimoji="1" lang="zh-CN" altLang="en-US" sz="1400" b="1" dirty="0">
                <a:solidFill>
                  <a:srgbClr val="FF0000"/>
                </a:solidFill>
                <a:latin typeface="+mn-ea"/>
                <a:cs typeface="+mn-ea"/>
              </a:rPr>
              <a:t>标尺</a:t>
            </a:r>
            <a:endParaRPr kumimoji="1" lang="zh-CN" altLang="en-US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endParaRPr kumimoji="1" lang="en-US" altLang="zh-CN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    char fmt[16];</a:t>
            </a:r>
            <a:endParaRPr kumimoji="1" lang="en-US" altLang="zh-CN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    sprintf(fmt, "%%%d.%dlf*\n", width, weishu);</a:t>
            </a:r>
            <a:endParaRPr kumimoji="1" lang="en-US" altLang="zh-CN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    printf(fmt, num);</a:t>
            </a:r>
            <a:endParaRPr kumimoji="1" lang="en-US" altLang="zh-CN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endParaRPr kumimoji="1" lang="en-US" altLang="zh-CN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    return 0;</a:t>
            </a:r>
            <a:endParaRPr kumimoji="1" lang="en-US" altLang="zh-CN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  <a:cs typeface="+mn-ea"/>
              </a:rPr>
              <a:t>}</a:t>
            </a:r>
            <a:endParaRPr kumimoji="1" lang="en-US" altLang="zh-CN" sz="1400" b="1" dirty="0">
              <a:solidFill>
                <a:srgbClr val="FF0000"/>
              </a:solidFill>
              <a:latin typeface="+mn-ea"/>
              <a:cs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870357" y="1578503"/>
            <a:ext cx="4090086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12.34 9 5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123.456789 12 2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12345678.9 5 2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12345678.9 5 0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(3/4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的答案没问题，想不通去看第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章作业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9683" y="2050577"/>
            <a:ext cx="3361905" cy="6380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11" y="3160746"/>
            <a:ext cx="3419048" cy="6666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683" y="4426380"/>
            <a:ext cx="3438095" cy="65714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683" y="5534875"/>
            <a:ext cx="3485714" cy="657143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 bwMode="auto">
          <a:xfrm>
            <a:off x="9707658" y="164421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5327</Words>
  <Application>WPS 演示</Application>
  <PresentationFormat>宽屏</PresentationFormat>
  <Paragraphs>371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foulen</cp:lastModifiedBy>
  <cp:revision>57</cp:revision>
  <dcterms:created xsi:type="dcterms:W3CDTF">2020-08-13T13:39:00Z</dcterms:created>
  <dcterms:modified xsi:type="dcterms:W3CDTF">2025-05-08T15:17:00Z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302572374F0749AAB09EA32DF4F120D9_12</vt:lpwstr>
  </property>
  <property fmtid="{D5CDD505-2E9C-101B-9397-08002B2CF9AE}" pid="3" name="KSOProductBuildVer">
    <vt:lpwstr>2052-12.1.0.20784</vt:lpwstr>
  </property>
</Properties>
</file>