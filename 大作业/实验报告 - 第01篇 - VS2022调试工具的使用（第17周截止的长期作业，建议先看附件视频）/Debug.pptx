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3"/>
    <p:sldId id="256" r:id="rId4"/>
    <p:sldId id="258" r:id="rId5"/>
    <p:sldId id="259" r:id="rId6"/>
    <p:sldId id="260" r:id="rId7"/>
    <p:sldId id="263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7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1.png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5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tags" Target="../tags/tag7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9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1.xml"/><Relationship Id="rId4" Type="http://schemas.openxmlformats.org/officeDocument/2006/relationships/image" Target="../media/image13.png"/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tags" Target="../tags/tag8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8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5.xml"/><Relationship Id="rId2" Type="http://schemas.openxmlformats.org/officeDocument/2006/relationships/image" Target="../media/image16.png"/><Relationship Id="rId1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86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88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90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3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9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5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9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7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96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99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tags" Target="../tags/tag9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tags" Target="../tags/tag100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3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tags" Target="../tags/tag10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tags" Target="../tags/tag104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7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tags" Target="../tags/tag106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9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tags" Target="../tags/tag108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1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tags" Target="../tags/tag110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3.xml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tags" Target="../tags/tag11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5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tags" Target="../tags/tag114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7.xml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tags" Target="../tags/tag116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9.xml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tags" Target="../tags/tag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4760" y="608330"/>
            <a:ext cx="7210425" cy="1283335"/>
          </a:xfrm>
        </p:spPr>
        <p:txBody>
          <a:bodyPr>
            <a:noAutofit/>
          </a:bodyPr>
          <a:p>
            <a:pPr algn="ctr"/>
            <a:r>
              <a:rPr lang="zh-CN" altLang="en-US" sz="4800"/>
              <a:t>对</a:t>
            </a:r>
            <a:r>
              <a:rPr lang="en-US" altLang="zh-CN" sz="4800"/>
              <a:t>VS2022</a:t>
            </a:r>
            <a:r>
              <a:rPr lang="zh-CN" altLang="en-US" sz="4800"/>
              <a:t>调试工具基本使用方法的学习</a:t>
            </a:r>
            <a:endParaRPr lang="zh-CN" altLang="en-US" sz="4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1865" y="2751510"/>
            <a:ext cx="10969200" cy="4759200"/>
          </a:xfrm>
        </p:spPr>
        <p:txBody>
          <a:bodyPr/>
          <a:p>
            <a:pPr marL="0" indent="0" algn="ctr"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班级：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10071706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学号：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2452654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姓名：郭炫君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日期：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2025.6.1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6102350" cy="1581785"/>
          </a:xfrm>
        </p:spPr>
        <p:txBody>
          <a:bodyPr/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1.1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开始调试（知识点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1.1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先在想要调试的代码位置设置断点，开始调试时就会运行到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断点处。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15" y="1696720"/>
            <a:ext cx="3872230" cy="439420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770255" y="3140710"/>
            <a:ext cx="1400810" cy="101536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581775" y="944880"/>
            <a:ext cx="491172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第一部分构造的源代码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/>
              <a:t>#include &lt;iostream&gt;</a:t>
            </a:r>
            <a:endParaRPr lang="en-US" altLang="zh-CN"/>
          </a:p>
          <a:p>
            <a:r>
              <a:rPr lang="en-US" altLang="zh-CN"/>
              <a:t>#include &lt;cmath&gt;</a:t>
            </a:r>
            <a:endParaRPr lang="en-US" altLang="zh-CN"/>
          </a:p>
          <a:p>
            <a:r>
              <a:rPr lang="en-US" altLang="zh-CN"/>
              <a:t>using namespace std;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int fun(int a) {</a:t>
            </a:r>
            <a:endParaRPr lang="en-US" altLang="zh-CN"/>
          </a:p>
          <a:p>
            <a:r>
              <a:rPr lang="en-US" altLang="zh-CN"/>
              <a:t>    static int s = 0;</a:t>
            </a:r>
            <a:endParaRPr lang="en-US" altLang="zh-CN"/>
          </a:p>
          <a:p>
            <a:r>
              <a:rPr lang="en-US" altLang="zh-CN"/>
              <a:t>    s += a;</a:t>
            </a:r>
            <a:endParaRPr lang="en-US" altLang="zh-CN"/>
          </a:p>
          <a:p>
            <a:r>
              <a:rPr lang="en-US" altLang="zh-CN"/>
              <a:t>    return s;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int main() {</a:t>
            </a:r>
            <a:endParaRPr lang="en-US" altLang="zh-CN"/>
          </a:p>
          <a:p>
            <a:r>
              <a:rPr lang="en-US" altLang="zh-CN"/>
              <a:t>    int x = 4;</a:t>
            </a:r>
            <a:endParaRPr lang="en-US" altLang="zh-CN"/>
          </a:p>
          <a:p>
            <a:r>
              <a:rPr lang="en-US" altLang="zh-CN"/>
              <a:t>    float y = sqrt(x);      // </a:t>
            </a:r>
            <a:r>
              <a:rPr lang="zh-CN" altLang="en-US"/>
              <a:t>系统函数</a:t>
            </a:r>
            <a:endParaRPr lang="zh-CN" altLang="en-US"/>
          </a:p>
          <a:p>
            <a:r>
              <a:rPr lang="en-US" altLang="zh-CN"/>
              <a:t>    cout &lt;&lt; "sqrt(x): " &lt;&lt; y &lt;&lt; endl;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int r = fun(x);         // </a:t>
            </a:r>
            <a:r>
              <a:rPr lang="zh-CN" altLang="en-US"/>
              <a:t>自定义函数</a:t>
            </a:r>
            <a:endParaRPr lang="zh-CN" altLang="en-US"/>
          </a:p>
          <a:p>
            <a:r>
              <a:rPr lang="en-US" altLang="zh-CN"/>
              <a:t>    cout &lt;&lt; "fun(x): " &lt;&lt; r &lt;&lt; endl;</a:t>
            </a:r>
            <a:endParaRPr lang="en-US" altLang="zh-CN"/>
          </a:p>
          <a:p>
            <a:r>
              <a:rPr lang="en-US" altLang="zh-CN"/>
              <a:t>    return 0;</a:t>
            </a:r>
            <a:endParaRPr lang="en-US" altLang="zh-CN"/>
          </a:p>
          <a:p>
            <a:r>
              <a:rPr lang="en-US" altLang="zh-CN"/>
              <a:t>}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66085" y="3078480"/>
            <a:ext cx="9799200" cy="2570400"/>
          </a:xfrm>
        </p:spPr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1450" y="199390"/>
            <a:ext cx="9799320" cy="1581785"/>
          </a:xfrm>
        </p:spPr>
        <p:txBody>
          <a:bodyPr/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1.1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开始调试（知识点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1.1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：在菜单栏选择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，在出现的菜单中选择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开始调试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endParaRPr lang="en-US" altLang="zh-CN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F5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702435"/>
            <a:ext cx="8932545" cy="481965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 flipV="1">
            <a:off x="6830695" y="2546985"/>
            <a:ext cx="2121535" cy="77343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>
            <a:off x="4784725" y="1116330"/>
            <a:ext cx="1021715" cy="6648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66085" y="3078480"/>
            <a:ext cx="9799200" cy="2570400"/>
          </a:xfrm>
        </p:spPr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1450" y="199390"/>
            <a:ext cx="9799320" cy="1581785"/>
          </a:xfrm>
        </p:spPr>
        <p:txBody>
          <a:bodyPr/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1.1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开始调试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1.1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进入调试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模式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005" y="1458595"/>
            <a:ext cx="8358505" cy="4844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581785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在函数中单步执行语句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1.3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1.2.1 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每个语句单步执行，并不进入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在菜单栏选择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，在出现的菜单中选择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逐过程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，或者直接按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F10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，在遇到系统函数时，会直接一步完成，不进入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内部。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771775"/>
            <a:ext cx="6158230" cy="408622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868045" y="6082665"/>
            <a:ext cx="2542540" cy="6248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3119755" y="2239645"/>
            <a:ext cx="525780" cy="5937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695" y="1737360"/>
            <a:ext cx="5107305" cy="215646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6453505" y="2994660"/>
            <a:ext cx="508000" cy="127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005" y="4552315"/>
            <a:ext cx="4742815" cy="226377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>
            <a:off x="8881745" y="3961130"/>
            <a:ext cx="6350" cy="4584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581785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在函数中单步执行语句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1.5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1.2.1 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每个语句单步执行，并不进入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在菜单栏选择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，在出现的菜单中选择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逐过程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，或者直接按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F10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，在遇到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自定义函数时，会直接一步完成，不进入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内部。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771775"/>
            <a:ext cx="6158230" cy="408622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868045" y="6082665"/>
            <a:ext cx="2542540" cy="6248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3119755" y="2239645"/>
            <a:ext cx="525780" cy="5937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6453505" y="2994660"/>
            <a:ext cx="508000" cy="127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8881745" y="3961130"/>
            <a:ext cx="6350" cy="4584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330" y="1633220"/>
            <a:ext cx="4867275" cy="2206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230" y="4594225"/>
            <a:ext cx="5554345" cy="20605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在函数中单步执行语句（知识点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1.4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1.2.2 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每个语句单步执行，进入函数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在菜单栏选择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，在出现的菜单中选择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逐语句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，或者直接按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F11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，在遇到系统函数的时候，会进入内部。按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shift+F11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跳出。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210" y="1536065"/>
            <a:ext cx="4668520" cy="197104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6453505" y="2994660"/>
            <a:ext cx="508000" cy="127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8875395" y="3611880"/>
            <a:ext cx="6350" cy="4584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2380615"/>
            <a:ext cx="5974715" cy="421068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3278505" y="1786890"/>
            <a:ext cx="525780" cy="5937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922655" y="5372100"/>
            <a:ext cx="2542540" cy="6248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505" y="4046855"/>
            <a:ext cx="4715510" cy="26904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065260" y="3697605"/>
            <a:ext cx="248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</a:t>
            </a:r>
            <a:r>
              <a:rPr lang="en-US" altLang="zh-CN"/>
              <a:t>sqrt</a:t>
            </a:r>
            <a:r>
              <a:rPr lang="zh-CN" altLang="en-US"/>
              <a:t>函数</a:t>
            </a:r>
            <a:r>
              <a:rPr lang="zh-CN" altLang="en-US"/>
              <a:t>内部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4133850"/>
          </a:xfrm>
        </p:spPr>
        <p:txBody>
          <a:bodyPr>
            <a:normAutofit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在函数中单步执行语句（知识点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1.4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1.2.2 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每个语句单步执行，进入函数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默认设置之中不会进入系统函数内部，想要进入要修改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设置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工具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选项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符号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勾选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Microsoft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符号服务器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工具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&gt;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选项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&gt;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&gt;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常规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勾选启用源服务器支持，取消勾选仅启用我的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2934335"/>
            <a:ext cx="5684520" cy="335724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1885315" y="3823970"/>
            <a:ext cx="426720" cy="43878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80" y="2934335"/>
            <a:ext cx="5691505" cy="3307715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7836535" y="4927600"/>
            <a:ext cx="426720" cy="43878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7901940" y="3950970"/>
            <a:ext cx="426720" cy="43878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在函数中单步执行语句（知识点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1.2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1.6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1.2.2 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每个语句单步执行，进入函数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在菜单栏选择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，在出现的菜单中选择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逐语句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，或者直接按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F11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，在遇到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自定义函数的时候，会进入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内部。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6453505" y="2994660"/>
            <a:ext cx="508000" cy="127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8875395" y="3611880"/>
            <a:ext cx="6350" cy="4584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380615"/>
            <a:ext cx="5974715" cy="421068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3278505" y="1786890"/>
            <a:ext cx="525780" cy="5937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922655" y="5372100"/>
            <a:ext cx="2542540" cy="6248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065260" y="3697605"/>
            <a:ext cx="248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</a:t>
            </a:r>
            <a:r>
              <a:rPr lang="en-US" altLang="zh-CN"/>
              <a:t>fun</a:t>
            </a:r>
            <a:r>
              <a:rPr lang="zh-CN" altLang="en-US"/>
              <a:t>函数</a:t>
            </a:r>
            <a:r>
              <a:rPr lang="zh-CN" altLang="en-US"/>
              <a:t>内部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505" y="1405255"/>
            <a:ext cx="4867275" cy="22066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25" y="4232910"/>
            <a:ext cx="4961255" cy="22504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1.3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结束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调试（知识点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1.1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：点击菜单栏中红色的停止按钮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shift+F5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即可结束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调试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在菜单栏选择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，在出现的菜单中选择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停止调试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011680"/>
            <a:ext cx="5664835" cy="350266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4908550" y="1678305"/>
            <a:ext cx="334010" cy="5873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770" y="2011680"/>
            <a:ext cx="6019165" cy="3447415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 flipH="1">
            <a:off x="9109710" y="1465580"/>
            <a:ext cx="334010" cy="5873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8408035" y="3057525"/>
            <a:ext cx="469900" cy="2717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2.1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查看形参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自动变量的变化情况（知识点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2.1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/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965" y="775335"/>
            <a:ext cx="5285105" cy="5655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  <a:endParaRPr lang="en-US" altLang="zh-CN" sz="1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static int static_global = 10;//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静态全局变量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int global=100;//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全局变量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void print();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void fun(int param)//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形参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static int local = 0;//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局部静态变量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int auto_var = param + 1;//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自动变量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local += param;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cout &lt;&lt; auto_var &lt;&lt; endl;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cout &lt;&lt; local &lt;&lt; endl;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cout &lt;&lt; &amp;static_global &lt;&lt; " " &lt;&lt; static_global &lt;&lt; endl;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cout &lt;&lt; &amp;global &lt;&lt; " " &lt;&lt; global &lt;&lt; endl;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print();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fun(1);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fun(100);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return 0;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23535" y="763270"/>
            <a:ext cx="6489065" cy="3632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other.cpp</a:t>
            </a:r>
            <a:endParaRPr lang="en-US" altLang="zh-CN" sz="1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static int static_global = 20;//</a:t>
            </a: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静态全局变量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extern int global;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void print()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global += 1;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cout &lt;&lt; &amp;static_global &lt;&lt; " " &lt;&lt; static_global &lt;&lt; endl;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	cout &lt;&lt; &amp;global &lt;&lt; " " &lt;&lt; global &lt;&lt; endl;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400" b="1">
                <a:latin typeface="宋体" panose="02010600030101010101" pitchFamily="2" charset="-122"/>
                <a:ea typeface="宋体" panose="02010600030101010101" pitchFamily="2" charset="-122"/>
              </a:rPr>
              <a:t>先设置断点，并开始调试</a:t>
            </a:r>
            <a:endParaRPr lang="zh-CN" altLang="en-US" sz="1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75" y="4277360"/>
            <a:ext cx="5043170" cy="205676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5897880" y="4770120"/>
            <a:ext cx="549910" cy="5994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2.1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查看形参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自动变量的变化情况（知识点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2.1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en-US" altLang="zh-CN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692150"/>
            <a:ext cx="5729605" cy="576580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92075" y="2853055"/>
            <a:ext cx="154940" cy="7664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110490" y="4992370"/>
            <a:ext cx="309245" cy="76390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1306195" y="5588635"/>
            <a:ext cx="800100" cy="6648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093460" y="692150"/>
            <a:ext cx="4102735" cy="1605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F11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进入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fun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（）函数内部，打开下方监视窗口，输入形参名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param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和自动变量名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auto_var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，此时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param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值为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auto_var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值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不可信。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535" y="3429000"/>
            <a:ext cx="5469890" cy="17125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305550" y="2612390"/>
            <a:ext cx="30359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按F10运行函数后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auto_var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被赋值为2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2.1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查看形参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自动变量的变化情况（知识点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2.1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到第二个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fun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函数的位置按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F11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进入内部，如果前面没有进入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fun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）的内部，两个都会显示未定义，如果进入过，就会保持执行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fun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）后的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值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1337310"/>
            <a:ext cx="4562475" cy="14865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685" y="1337310"/>
            <a:ext cx="5434330" cy="17252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2956560"/>
            <a:ext cx="4137025" cy="38347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580255" y="4051935"/>
            <a:ext cx="55765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现在按照进入过</a:t>
            </a:r>
            <a:r>
              <a:rPr lang="en-US" altLang="zh-CN"/>
              <a:t>fun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）的步骤继续，</a:t>
            </a:r>
            <a:r>
              <a:rPr lang="en-US" altLang="zh-CN"/>
              <a:t>param</a:t>
            </a:r>
            <a:r>
              <a:rPr lang="zh-CN" altLang="en-US"/>
              <a:t>被赋值为</a:t>
            </a:r>
            <a:r>
              <a:rPr lang="en-US" altLang="zh-CN"/>
              <a:t>100</a:t>
            </a:r>
            <a:r>
              <a:rPr lang="zh-CN" altLang="en-US"/>
              <a:t>，而</a:t>
            </a:r>
            <a:r>
              <a:rPr lang="en-US" altLang="zh-CN"/>
              <a:t>auto_var</a:t>
            </a:r>
            <a:r>
              <a:rPr lang="zh-CN" altLang="en-US"/>
              <a:t>值不可信，之后被赋值为</a:t>
            </a:r>
            <a:r>
              <a:rPr lang="en-US" altLang="zh-CN"/>
              <a:t>101</a:t>
            </a:r>
            <a:r>
              <a:rPr lang="zh-CN" altLang="en-US"/>
              <a:t>，这说明形参和自动变量每一次调用函数时都会重新初始化，不会保留上一次的</a:t>
            </a:r>
            <a:r>
              <a:rPr lang="zh-CN" altLang="en-US"/>
              <a:t>值。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230" y="5452745"/>
            <a:ext cx="4408170" cy="119634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3146425" y="5499100"/>
            <a:ext cx="302895" cy="95821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2.2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查看静态局部变量的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2.2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F11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进入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fun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内部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0" y="1041400"/>
            <a:ext cx="4249420" cy="581660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55245" y="4572000"/>
            <a:ext cx="438785" cy="5746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650" y="1637665"/>
            <a:ext cx="5955665" cy="142303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V="1">
            <a:off x="4877435" y="2259965"/>
            <a:ext cx="810260" cy="571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761990" y="1153160"/>
            <a:ext cx="4321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静态局部变量</a:t>
            </a:r>
            <a:r>
              <a:rPr lang="en-US" altLang="zh-CN"/>
              <a:t>local</a:t>
            </a:r>
            <a:r>
              <a:rPr lang="zh-CN" altLang="en-US"/>
              <a:t>的</a:t>
            </a:r>
            <a:r>
              <a:rPr lang="zh-CN" altLang="en-US"/>
              <a:t>初始值为</a:t>
            </a:r>
            <a:r>
              <a:rPr lang="en-US" altLang="zh-CN"/>
              <a:t>0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t="21088" r="720"/>
          <a:stretch>
            <a:fillRect/>
          </a:stretch>
        </p:blipFill>
        <p:spPr>
          <a:xfrm>
            <a:off x="5687695" y="3107055"/>
            <a:ext cx="3963670" cy="354774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934575" y="3601085"/>
            <a:ext cx="2164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local+=param</a:t>
            </a:r>
            <a:r>
              <a:rPr lang="zh-CN" altLang="en-US"/>
              <a:t>后得到</a:t>
            </a:r>
            <a:r>
              <a:rPr lang="en-US" altLang="zh-CN"/>
              <a:t>local=1</a:t>
            </a:r>
            <a:endParaRPr lang="en-US" altLang="zh-CN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142355" y="3060700"/>
            <a:ext cx="438785" cy="5746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8510270" y="5966460"/>
            <a:ext cx="438785" cy="5746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2.2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查看静态局部变量的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2.2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按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F11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进入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fun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100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zh-CN" altLang="en-US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内部</a:t>
            </a:r>
            <a:endParaRPr lang="zh-CN" altLang="en-US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5" y="1242060"/>
            <a:ext cx="3922395" cy="1460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880" y="654685"/>
            <a:ext cx="4756150" cy="455739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4389120" y="1876425"/>
            <a:ext cx="1224280" cy="635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9328785" y="4219575"/>
            <a:ext cx="290830" cy="4699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2895600"/>
            <a:ext cx="4311650" cy="348869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2933065" y="5626735"/>
            <a:ext cx="290830" cy="4699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4483100" y="3950970"/>
            <a:ext cx="1177925" cy="25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846320" y="5375910"/>
            <a:ext cx="6647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进入函数内部后，</a:t>
            </a:r>
            <a:r>
              <a:rPr lang="en-US" altLang="zh-CN"/>
              <a:t>local</a:t>
            </a:r>
            <a:r>
              <a:rPr lang="zh-CN" altLang="en-US"/>
              <a:t>没有重新赋值，而是保持</a:t>
            </a:r>
            <a:r>
              <a:rPr lang="en-US" altLang="zh-CN"/>
              <a:t>fun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）执行以后的值，并且在此基础上继续累加得到</a:t>
            </a:r>
            <a:r>
              <a:rPr lang="en-US" altLang="zh-CN"/>
              <a:t>101</a:t>
            </a:r>
            <a:r>
              <a:rPr lang="zh-CN" altLang="en-US"/>
              <a:t>。所以静态局部变量只会被定义一次，地址</a:t>
            </a:r>
            <a:r>
              <a:rPr lang="zh-CN" altLang="en-US"/>
              <a:t>始终不变。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2.3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查看静态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全局变量的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2.3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 sz="1800" spc="0">
                <a:solidFill>
                  <a:schemeClr val="tx1"/>
                </a:solidFill>
                <a:sym typeface="+mn-ea"/>
              </a:rPr>
              <a:t>设置断点，开始调试，监视</a:t>
            </a:r>
            <a:r>
              <a:rPr lang="en-US" altLang="zh-CN" sz="1800" spc="0">
                <a:solidFill>
                  <a:schemeClr val="tx1"/>
                </a:solidFill>
                <a:sym typeface="+mn-ea"/>
              </a:rPr>
              <a:t>static_global</a:t>
            </a:r>
            <a:r>
              <a:rPr lang="zh-CN" altLang="en-US" sz="1800" spc="0">
                <a:solidFill>
                  <a:schemeClr val="tx1"/>
                </a:solidFill>
                <a:sym typeface="+mn-ea"/>
              </a:rPr>
              <a:t>及其</a:t>
            </a:r>
            <a:r>
              <a:rPr lang="zh-CN" altLang="en-US" sz="1800" spc="0">
                <a:solidFill>
                  <a:schemeClr val="tx1"/>
                </a:solidFill>
                <a:sym typeface="+mn-ea"/>
              </a:rPr>
              <a:t>地址</a:t>
            </a:r>
            <a:endParaRPr lang="zh-CN" altLang="en-US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" y="1293495"/>
            <a:ext cx="4953635" cy="436943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171450" y="3867150"/>
            <a:ext cx="299720" cy="90297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765" y="1293495"/>
            <a:ext cx="6663055" cy="1205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45350" y="683260"/>
            <a:ext cx="5347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在这个源文件里</a:t>
            </a:r>
            <a:r>
              <a:rPr lang="en-US" altLang="zh-CN"/>
              <a:t>static_global=10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435" y="3510280"/>
            <a:ext cx="4991100" cy="251523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8251825" y="2637155"/>
            <a:ext cx="18415" cy="77851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611495" y="2667635"/>
            <a:ext cx="2300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</a:t>
            </a:r>
            <a:r>
              <a:rPr lang="en-US" altLang="zh-CN"/>
              <a:t>F11</a:t>
            </a:r>
            <a:r>
              <a:rPr lang="zh-CN" altLang="en-US"/>
              <a:t>进入</a:t>
            </a:r>
            <a:r>
              <a:rPr lang="en-US" altLang="zh-CN"/>
              <a:t>other.cpp</a:t>
            </a:r>
            <a:r>
              <a:rPr lang="zh-CN" altLang="en-US"/>
              <a:t>文件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2.3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查看静态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全局变量的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2.3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zh-CN" altLang="en-US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10" y="1308735"/>
            <a:ext cx="4991100" cy="25152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4714240"/>
            <a:ext cx="6589395" cy="127571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>
            <a:off x="4827905" y="4095750"/>
            <a:ext cx="822325" cy="10636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861810" y="1492885"/>
            <a:ext cx="45561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结论</a:t>
            </a:r>
            <a:r>
              <a:rPr lang="zh-CN" altLang="en-US"/>
              <a:t>：在</a:t>
            </a:r>
            <a:r>
              <a:rPr lang="en-US" altLang="zh-CN"/>
              <a:t>other.cpp</a:t>
            </a:r>
            <a:r>
              <a:rPr lang="zh-CN" altLang="en-US"/>
              <a:t>中，</a:t>
            </a:r>
            <a:r>
              <a:rPr lang="en-US" altLang="zh-CN"/>
              <a:t>static_global=20,</a:t>
            </a:r>
            <a:r>
              <a:rPr lang="zh-CN" altLang="en-US"/>
              <a:t>而且地址与</a:t>
            </a:r>
            <a:r>
              <a:rPr lang="en-US" altLang="zh-CN"/>
              <a:t>main.cpp</a:t>
            </a:r>
            <a:r>
              <a:rPr lang="zh-CN" altLang="en-US"/>
              <a:t>里的不一样，这说明两个不同源文件里同名的静态全局变量是两个独立的</a:t>
            </a:r>
            <a:r>
              <a:rPr lang="zh-CN" altLang="en-US"/>
              <a:t>变量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2.4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外部全局变量的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2.4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 sz="1800" spc="0">
                <a:solidFill>
                  <a:schemeClr val="tx1"/>
                </a:solidFill>
                <a:sym typeface="+mn-ea"/>
              </a:rPr>
              <a:t>设置断点，开始调试，监视全局变量</a:t>
            </a:r>
            <a:r>
              <a:rPr lang="en-US" altLang="zh-CN" sz="1800" spc="0">
                <a:solidFill>
                  <a:schemeClr val="tx1"/>
                </a:solidFill>
                <a:sym typeface="+mn-ea"/>
              </a:rPr>
              <a:t>global</a:t>
            </a:r>
            <a:r>
              <a:rPr lang="zh-CN" altLang="en-US" sz="1800" spc="0">
                <a:solidFill>
                  <a:schemeClr val="tx1"/>
                </a:solidFill>
                <a:sym typeface="+mn-ea"/>
              </a:rPr>
              <a:t>及其地址，此时</a:t>
            </a:r>
            <a:r>
              <a:rPr lang="en-US" altLang="zh-CN" sz="1800" spc="0">
                <a:solidFill>
                  <a:schemeClr val="tx1"/>
                </a:solidFill>
                <a:sym typeface="+mn-ea"/>
              </a:rPr>
              <a:t>global=100</a:t>
            </a:r>
            <a:endParaRPr lang="en-US" altLang="zh-CN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" y="1247775"/>
            <a:ext cx="5746750" cy="28149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185" y="1704340"/>
            <a:ext cx="5963285" cy="93662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9668510" y="1431290"/>
            <a:ext cx="315595" cy="49466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410" y="3850005"/>
            <a:ext cx="5327015" cy="257556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7010400" y="2723515"/>
            <a:ext cx="6350" cy="97663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616190" y="2859405"/>
            <a:ext cx="347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</a:t>
            </a:r>
            <a:r>
              <a:rPr lang="en-US" altLang="zh-CN"/>
              <a:t>F11</a:t>
            </a:r>
            <a:r>
              <a:rPr lang="zh-CN" altLang="en-US"/>
              <a:t>进入</a:t>
            </a:r>
            <a:r>
              <a:rPr lang="en-US" altLang="zh-CN"/>
              <a:t>other.cpp</a:t>
            </a:r>
            <a:endParaRPr lang="en-US" alt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" y="5386705"/>
            <a:ext cx="6122670" cy="12255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72795" y="4819650"/>
            <a:ext cx="508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global</a:t>
            </a:r>
            <a:r>
              <a:rPr lang="zh-CN" altLang="en-US"/>
              <a:t>的值和地址都</a:t>
            </a:r>
            <a:r>
              <a:rPr lang="zh-CN" altLang="en-US"/>
              <a:t>不变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2.4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外部全局变量的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变化（知识点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2.4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 sz="1800" spc="0">
                <a:solidFill>
                  <a:schemeClr val="tx1"/>
                </a:solidFill>
                <a:sym typeface="+mn-ea"/>
              </a:rPr>
              <a:t>按</a:t>
            </a:r>
            <a:r>
              <a:rPr lang="en-US" altLang="zh-CN" sz="1800" spc="0">
                <a:solidFill>
                  <a:schemeClr val="tx1"/>
                </a:solidFill>
                <a:sym typeface="+mn-ea"/>
              </a:rPr>
              <a:t>F10</a:t>
            </a:r>
            <a:r>
              <a:rPr lang="zh-CN" altLang="en-US" sz="1800" spc="0">
                <a:solidFill>
                  <a:schemeClr val="tx1"/>
                </a:solidFill>
                <a:sym typeface="+mn-ea"/>
              </a:rPr>
              <a:t>运行到图中所示位置时，</a:t>
            </a:r>
            <a:r>
              <a:rPr lang="en-US" altLang="zh-CN" sz="1800" spc="0">
                <a:solidFill>
                  <a:schemeClr val="tx1"/>
                </a:solidFill>
                <a:sym typeface="+mn-ea"/>
              </a:rPr>
              <a:t>global=101</a:t>
            </a:r>
            <a:endParaRPr lang="en-US" altLang="zh-CN" sz="1800" spc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7010400" y="2723515"/>
            <a:ext cx="6350" cy="97663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616190" y="2859405"/>
            <a:ext cx="347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</a:t>
            </a:r>
            <a:r>
              <a:rPr lang="en-US" altLang="zh-CN"/>
              <a:t>shift+F11</a:t>
            </a:r>
            <a:r>
              <a:rPr lang="zh-CN" altLang="en-US"/>
              <a:t>退出</a:t>
            </a:r>
            <a:r>
              <a:rPr lang="en-US" altLang="zh-CN"/>
              <a:t>other.cpp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73100" y="4152265"/>
            <a:ext cx="508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global</a:t>
            </a:r>
            <a:r>
              <a:rPr lang="zh-CN" altLang="en-US"/>
              <a:t>的值和地址都</a:t>
            </a:r>
            <a:r>
              <a:rPr lang="zh-CN" altLang="en-US"/>
              <a:t>不变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" y="1071880"/>
            <a:ext cx="5368925" cy="24631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772285"/>
            <a:ext cx="5375910" cy="89535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9254490" y="1635760"/>
            <a:ext cx="315595" cy="49466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4570730"/>
            <a:ext cx="6109335" cy="9544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330" y="3829050"/>
            <a:ext cx="5429885" cy="205867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1965" y="6018530"/>
            <a:ext cx="584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结论</a:t>
            </a:r>
            <a:r>
              <a:rPr lang="zh-CN" altLang="en-US"/>
              <a:t>：多文件中外部全局变量是同一个变量，是</a:t>
            </a:r>
            <a:r>
              <a:rPr lang="zh-CN" altLang="en-US"/>
              <a:t>共享的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3.1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char/int/float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等简单变量（知识点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3.1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en-US" altLang="zh-CN" sz="1800" spc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0860" y="664845"/>
            <a:ext cx="5063490" cy="5897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#include &lt;iostream&gt;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using namespace std;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process_array(int* arr_ptr, int size) { // 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形参是指针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cout &lt;&lt; "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数组首地址（形参）</a:t>
            </a:r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 " &lt;&lt; arr_ptr &lt;&lt; endl;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for (int i = 0; i &lt; size; ++i) {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cout &lt;&lt; arr_ptr[i] &lt;&lt; " "; // 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通过指针访问数组元素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}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cout &lt;&lt; endl;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//3.6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 main()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char c = 'A';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 n = 42;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float f = 3.14</a:t>
            </a:r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//3.1</a:t>
            </a:r>
            <a:endParaRPr lang="en-US" altLang="zh-CN" sz="1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int* p = &amp;n;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char* pc = &amp;c;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//3.2</a:t>
            </a:r>
            <a:endParaRPr lang="en-US" altLang="zh-CN" sz="1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 array1[5] = { 1,2,3,4,5 };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//3.3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int* p_array1 = array1;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//3.4</a:t>
            </a:r>
            <a:endParaRPr lang="en-US" altLang="zh-CN" sz="1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 array2[2][3] = { {1,2,3},{4,5,6} };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//3.5</a:t>
            </a:r>
            <a:endParaRPr lang="en-US" altLang="zh-CN" sz="1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/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process_array(array1, 5);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//3.6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1" indent="457200"/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const char* str = "Hello";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//3.7</a:t>
            </a:r>
            <a:endParaRPr lang="en-US" altLang="zh-CN" sz="1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int&amp; ref = n;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//3.8</a:t>
            </a:r>
            <a:endParaRPr lang="en-US" altLang="zh-CN" sz="1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int* danger = array1 + 10;</a:t>
            </a:r>
            <a:r>
              <a:rPr lang="en-US" altLang="zh-CN" sz="1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//3.9</a:t>
            </a:r>
            <a:endParaRPr lang="en-US" altLang="zh-CN" sz="1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return 0;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第三部分构造的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源代码</a:t>
            </a:r>
            <a:endParaRPr lang="zh-CN" altLang="en-US" sz="2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45455" y="800735"/>
            <a:ext cx="3548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设置断点，开始</a:t>
            </a:r>
            <a:r>
              <a:rPr lang="zh-CN" altLang="en-US"/>
              <a:t>调试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330" y="3951605"/>
            <a:ext cx="5568950" cy="121094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5891530" y="3341370"/>
            <a:ext cx="6350" cy="49466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528435" y="3409315"/>
            <a:ext cx="4339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在监视窗口输入变量名</a:t>
            </a:r>
            <a:r>
              <a:rPr lang="en-US" altLang="zh-CN"/>
              <a:t>c</a:t>
            </a:r>
            <a:r>
              <a:rPr lang="zh-CN" altLang="en-US"/>
              <a:t>，</a:t>
            </a:r>
            <a:r>
              <a:rPr lang="en-US" altLang="zh-CN"/>
              <a:t>n</a:t>
            </a:r>
            <a:r>
              <a:rPr lang="zh-CN" altLang="en-US"/>
              <a:t>，</a:t>
            </a:r>
            <a:r>
              <a:rPr lang="en-US" altLang="zh-CN"/>
              <a:t>f</a:t>
            </a:r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185" y="5391150"/>
            <a:ext cx="5125085" cy="13373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409430" y="5554980"/>
            <a:ext cx="2095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逐步运行后得到各个变量的</a:t>
            </a:r>
            <a:r>
              <a:rPr lang="zh-CN" altLang="en-US"/>
              <a:t>值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1198880"/>
            <a:ext cx="6337935" cy="21475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3.2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查看指向简单变量的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指针变量（知识点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3.2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en-US" altLang="zh-CN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" y="2932430"/>
            <a:ext cx="7359015" cy="11963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48350" y="1783715"/>
            <a:ext cx="20770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在监视窗口输入</a:t>
            </a:r>
            <a:r>
              <a:rPr lang="en-US" altLang="zh-CN"/>
              <a:t>p</a:t>
            </a:r>
            <a:r>
              <a:rPr lang="zh-CN" altLang="en-US"/>
              <a:t>，</a:t>
            </a:r>
            <a:r>
              <a:rPr lang="en-US" altLang="zh-CN"/>
              <a:t>*p</a:t>
            </a:r>
            <a:r>
              <a:rPr lang="zh-CN" altLang="en-US"/>
              <a:t>，</a:t>
            </a:r>
            <a:r>
              <a:rPr lang="en-US" altLang="zh-CN"/>
              <a:t>pc</a:t>
            </a:r>
            <a:r>
              <a:rPr lang="zh-CN" altLang="en-US"/>
              <a:t>，</a:t>
            </a:r>
            <a:r>
              <a:rPr lang="en-US" altLang="zh-CN"/>
              <a:t>*pc</a:t>
            </a:r>
            <a:r>
              <a:rPr lang="zh-CN" altLang="en-US"/>
              <a:t>，此时还没有</a:t>
            </a:r>
            <a:r>
              <a:rPr lang="zh-CN" altLang="en-US"/>
              <a:t>定义</a:t>
            </a:r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3078480" y="4349115"/>
            <a:ext cx="12065" cy="53213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5001260"/>
            <a:ext cx="4765040" cy="17614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" y="850900"/>
            <a:ext cx="4518660" cy="193992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712460" y="4355465"/>
            <a:ext cx="37655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逐步运行可以查看指针的值（</a:t>
            </a:r>
            <a:r>
              <a:rPr lang="zh-CN" altLang="en-US"/>
              <a:t>地址）和对应的变量的</a:t>
            </a:r>
            <a:r>
              <a:rPr lang="zh-CN" altLang="en-US"/>
              <a:t>值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580" y="5373370"/>
            <a:ext cx="7056120" cy="114681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3.3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一维数组（知识点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3.3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en-US" altLang="zh-CN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95655"/>
            <a:ext cx="5895340" cy="14871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2545715"/>
            <a:ext cx="8389620" cy="12553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43955" y="1054100"/>
            <a:ext cx="4791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在监视窗口输入</a:t>
            </a:r>
            <a:r>
              <a:rPr lang="en-US" altLang="zh-CN"/>
              <a:t>array1</a:t>
            </a:r>
            <a:r>
              <a:rPr lang="zh-CN" altLang="en-US"/>
              <a:t>和</a:t>
            </a:r>
            <a:r>
              <a:rPr lang="en-US" altLang="zh-CN"/>
              <a:t>array1[2]</a:t>
            </a:r>
            <a:r>
              <a:rPr lang="zh-CN" altLang="en-US"/>
              <a:t>分别查看整个一维数组和内部</a:t>
            </a:r>
            <a:r>
              <a:rPr lang="en-US" altLang="zh-CN"/>
              <a:t>1</a:t>
            </a:r>
            <a:r>
              <a:rPr lang="zh-CN" altLang="en-US"/>
              <a:t>的元素，此时未被</a:t>
            </a:r>
            <a:r>
              <a:rPr lang="zh-CN" altLang="en-US"/>
              <a:t>赋值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05" y="5013325"/>
            <a:ext cx="10906125" cy="117157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3437255" y="3836035"/>
            <a:ext cx="0" cy="10077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015105" y="4475480"/>
            <a:ext cx="6343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运行后得到一维数组的值及其内部单个元素的</a:t>
            </a:r>
            <a:r>
              <a:rPr lang="zh-CN" altLang="en-US"/>
              <a:t>值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3.4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查看指向一维数组的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指针变量（知识点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3.4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en-US" altLang="zh-CN" sz="1800" spc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43955" y="1054100"/>
            <a:ext cx="5694045" cy="996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在监视窗口输入</a:t>
            </a:r>
            <a:r>
              <a:rPr lang="en-US" altLang="zh-CN"/>
              <a:t>p_array1,*p_array1,p_array[3]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437255" y="3836035"/>
            <a:ext cx="0" cy="10077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940810" y="4141470"/>
            <a:ext cx="5396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运行后得到各个值，</a:t>
            </a:r>
            <a:r>
              <a:rPr lang="en-US" altLang="zh-CN"/>
              <a:t>p_array1</a:t>
            </a:r>
            <a:r>
              <a:rPr lang="zh-CN" altLang="en-US"/>
              <a:t>是一维数组</a:t>
            </a:r>
            <a:r>
              <a:rPr lang="zh-CN" altLang="en-US"/>
              <a:t>起始地址，</a:t>
            </a:r>
            <a:r>
              <a:rPr lang="en-US" altLang="zh-CN"/>
              <a:t>*p_array1</a:t>
            </a:r>
            <a:r>
              <a:rPr lang="zh-CN" altLang="en-US"/>
              <a:t>是数组第一个值，</a:t>
            </a:r>
            <a:r>
              <a:rPr lang="en-US" altLang="zh-CN"/>
              <a:t>p_array1[3]</a:t>
            </a:r>
            <a:r>
              <a:rPr lang="zh-CN" altLang="en-US"/>
              <a:t>是数组第四个</a:t>
            </a:r>
            <a:r>
              <a:rPr lang="zh-CN" altLang="en-US"/>
              <a:t>值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" y="954405"/>
            <a:ext cx="6094095" cy="9620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15" y="2183130"/>
            <a:ext cx="6621780" cy="16522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25" y="5019040"/>
            <a:ext cx="9486900" cy="17430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3.5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查看二维数组（知识点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3.5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en-US" altLang="zh-CN" sz="1800" spc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43955" y="1054100"/>
            <a:ext cx="5694045" cy="996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在监视窗口输入</a:t>
            </a:r>
            <a:r>
              <a:rPr lang="en-US" altLang="zh-CN"/>
              <a:t>array2[0],array2[1][2],array2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437255" y="3836035"/>
            <a:ext cx="0" cy="10077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896995" y="3919220"/>
            <a:ext cx="5396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运行后得到各个值，</a:t>
            </a:r>
            <a:r>
              <a:rPr lang="en-US" altLang="zh-CN"/>
              <a:t>array2[0]</a:t>
            </a:r>
            <a:r>
              <a:rPr lang="zh-CN" altLang="en-US"/>
              <a:t>是数组第</a:t>
            </a:r>
            <a:r>
              <a:rPr lang="en-US" altLang="zh-CN"/>
              <a:t>1</a:t>
            </a:r>
            <a:r>
              <a:rPr lang="zh-CN" altLang="en-US"/>
              <a:t>行的值，</a:t>
            </a:r>
            <a:r>
              <a:rPr lang="en-US" altLang="zh-CN"/>
              <a:t>array2[1][2]</a:t>
            </a:r>
            <a:r>
              <a:rPr lang="zh-CN" altLang="en-US"/>
              <a:t>是第</a:t>
            </a:r>
            <a:r>
              <a:rPr lang="en-US" altLang="zh-CN"/>
              <a:t>2</a:t>
            </a:r>
            <a:r>
              <a:rPr lang="zh-CN" altLang="en-US"/>
              <a:t>行第</a:t>
            </a:r>
            <a:r>
              <a:rPr lang="en-US" altLang="zh-CN"/>
              <a:t>3</a:t>
            </a:r>
            <a:r>
              <a:rPr lang="zh-CN" altLang="en-US"/>
              <a:t>列的值，</a:t>
            </a:r>
            <a:r>
              <a:rPr lang="en-US" altLang="zh-CN"/>
              <a:t>array2</a:t>
            </a:r>
            <a:r>
              <a:rPr lang="zh-CN" altLang="en-US"/>
              <a:t>是整个二维数组的</a:t>
            </a:r>
            <a:r>
              <a:rPr lang="zh-CN" altLang="en-US"/>
              <a:t>值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759460"/>
            <a:ext cx="6134100" cy="1177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25" y="2183130"/>
            <a:ext cx="10100310" cy="13366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25" y="5160010"/>
            <a:ext cx="10054590" cy="131381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3.6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在函数中查看实参数组的地址和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值（知识点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3.6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r>
              <a:rPr lang="zh-CN" altLang="en-US" sz="1800" spc="0">
                <a:solidFill>
                  <a:schemeClr val="tx1"/>
                </a:solidFill>
                <a:sym typeface="+mn-ea"/>
              </a:rPr>
              <a:t>按</a:t>
            </a:r>
            <a:r>
              <a:rPr lang="en-US" altLang="zh-CN" sz="1800" spc="0">
                <a:solidFill>
                  <a:schemeClr val="tx1"/>
                </a:solidFill>
                <a:sym typeface="+mn-ea"/>
              </a:rPr>
              <a:t>F11</a:t>
            </a:r>
            <a:r>
              <a:rPr lang="zh-CN" altLang="en-US" sz="1800" spc="0">
                <a:solidFill>
                  <a:schemeClr val="tx1"/>
                </a:solidFill>
                <a:sym typeface="+mn-ea"/>
              </a:rPr>
              <a:t>进入</a:t>
            </a:r>
            <a:r>
              <a:rPr lang="zh-CN" altLang="en-US" sz="1800" spc="0">
                <a:solidFill>
                  <a:schemeClr val="tx1"/>
                </a:solidFill>
                <a:sym typeface="+mn-ea"/>
              </a:rPr>
              <a:t>函数内部</a:t>
            </a:r>
            <a:endParaRPr lang="zh-CN" altLang="en-US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" y="1257935"/>
            <a:ext cx="4449445" cy="1513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780" y="1257935"/>
            <a:ext cx="6600825" cy="149415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4599305" y="2148205"/>
            <a:ext cx="648970" cy="127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641725"/>
            <a:ext cx="7842885" cy="1631315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>
            <a:off x="2645410" y="2896235"/>
            <a:ext cx="0" cy="5873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30860" y="5450205"/>
            <a:ext cx="56508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在监视窗口输入</a:t>
            </a:r>
            <a:r>
              <a:rPr lang="en-US" altLang="zh-CN"/>
              <a:t>arr_ptr,</a:t>
            </a:r>
            <a:r>
              <a:rPr lang="zh-CN" altLang="en-US"/>
              <a:t>得到数组起始地址和第一个元素的值，输入</a:t>
            </a:r>
            <a:r>
              <a:rPr lang="en-US" altLang="zh-CN"/>
              <a:t>arr_ptr,5</a:t>
            </a:r>
            <a:r>
              <a:rPr lang="zh-CN" altLang="en-US"/>
              <a:t>得到整个数组元素的值，输入数字是多少就得到前多少个值，输入</a:t>
            </a:r>
            <a:r>
              <a:rPr lang="en-US" altLang="zh-CN"/>
              <a:t>&amp;arr_ptr[2]</a:t>
            </a:r>
            <a:r>
              <a:rPr lang="zh-CN" altLang="en-US"/>
              <a:t>得到第三个元素的地址和</a:t>
            </a:r>
            <a:r>
              <a:rPr lang="zh-CN" altLang="en-US"/>
              <a:t>值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3.7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查看指向字符串常量的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指针变量（知识点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3.7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zh-CN" altLang="en-US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85" y="811530"/>
            <a:ext cx="7067550" cy="137160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6268720" y="683260"/>
            <a:ext cx="834390" cy="6121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85" y="2392680"/>
            <a:ext cx="10591800" cy="17145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5615" y="4504055"/>
            <a:ext cx="843724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在监视窗口输入</a:t>
            </a:r>
            <a:r>
              <a:rPr lang="en-US" altLang="zh-CN"/>
              <a:t>str</a:t>
            </a:r>
            <a:r>
              <a:rPr lang="zh-CN" altLang="en-US"/>
              <a:t>得到字符串的起始地址和字符串的值，可以看到无名字符串常量的地址；输入</a:t>
            </a:r>
            <a:r>
              <a:rPr lang="en-US" altLang="zh-CN"/>
              <a:t>*str</a:t>
            </a:r>
            <a:r>
              <a:rPr lang="zh-CN" altLang="en-US"/>
              <a:t>得到字符串的首字母，输入</a:t>
            </a:r>
            <a:r>
              <a:rPr lang="en-US" altLang="zh-CN"/>
              <a:t>*</a:t>
            </a:r>
            <a:r>
              <a:rPr lang="zh-CN" altLang="en-US"/>
              <a:t>（</a:t>
            </a:r>
            <a:r>
              <a:rPr lang="en-US" altLang="zh-CN"/>
              <a:t>str+1</a:t>
            </a:r>
            <a:r>
              <a:rPr lang="zh-CN" altLang="en-US"/>
              <a:t>）得到第二个</a:t>
            </a:r>
            <a:r>
              <a:rPr lang="zh-CN" altLang="en-US"/>
              <a:t>字母。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3.8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查看引用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变量（知识点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3.8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zh-CN" altLang="en-US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5" y="836295"/>
            <a:ext cx="7019925" cy="1104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5" y="2128520"/>
            <a:ext cx="8227695" cy="14147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950" y="3913505"/>
            <a:ext cx="8185785" cy="138620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2026920" y="3671570"/>
            <a:ext cx="689610" cy="5810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875905" y="836295"/>
            <a:ext cx="33756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在监视窗口输入</a:t>
            </a:r>
            <a:r>
              <a:rPr lang="en-US" altLang="zh-CN"/>
              <a:t>ref</a:t>
            </a:r>
            <a:r>
              <a:rPr lang="zh-CN" altLang="en-US"/>
              <a:t>，</a:t>
            </a:r>
            <a:r>
              <a:rPr lang="en-US" altLang="zh-CN"/>
              <a:t>&amp;ref,n,&amp;n,</a:t>
            </a:r>
            <a:r>
              <a:rPr lang="zh-CN" altLang="en-US"/>
              <a:t>运行后发现</a:t>
            </a:r>
            <a:r>
              <a:rPr lang="en-US" altLang="zh-CN"/>
              <a:t>ref</a:t>
            </a:r>
            <a:r>
              <a:rPr lang="zh-CN" altLang="en-US"/>
              <a:t>和</a:t>
            </a:r>
            <a:r>
              <a:rPr lang="en-US" altLang="zh-CN"/>
              <a:t>n</a:t>
            </a:r>
            <a:r>
              <a:rPr lang="zh-CN" altLang="en-US"/>
              <a:t>的地址和值</a:t>
            </a:r>
            <a:r>
              <a:rPr lang="zh-CN" altLang="en-US"/>
              <a:t>都相同。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0195" y="5419090"/>
            <a:ext cx="112026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引用和指针的区别</a:t>
            </a:r>
            <a:r>
              <a:rPr lang="zh-CN" altLang="en-US"/>
              <a:t>：</a:t>
            </a:r>
            <a:r>
              <a:rPr lang="en-US" altLang="zh-CN"/>
              <a:t>1.</a:t>
            </a:r>
            <a:r>
              <a:rPr lang="zh-CN" altLang="en-US"/>
              <a:t>引用相当于变量的别名，而指针是存储变量地址的独立</a:t>
            </a:r>
            <a:r>
              <a:rPr lang="zh-CN" altLang="en-US"/>
              <a:t>变量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引用没有独立的内存，指针会占</a:t>
            </a:r>
            <a:r>
              <a:rPr lang="zh-CN" altLang="en-US"/>
              <a:t>存储空间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引用必须立刻初始化且不能改变</a:t>
            </a:r>
            <a:r>
              <a:rPr lang="zh-CN" altLang="en-US"/>
              <a:t>绑定，指针可以先定义并且多次修改</a:t>
            </a:r>
            <a:r>
              <a:rPr lang="zh-CN" altLang="en-US"/>
              <a:t>指向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71450" y="199390"/>
            <a:ext cx="11322685" cy="1983740"/>
          </a:xfrm>
        </p:spPr>
        <p:txBody>
          <a:bodyPr>
            <a:normAutofit lnSpcReduction="20000"/>
          </a:bodyPr>
          <a:p>
            <a:pPr algn="l"/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3.9 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使用指针时出现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越界（知识点</a:t>
            </a:r>
            <a:r>
              <a:rPr lang="en-US" altLang="zh-CN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3.9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lvl="1" indent="457200" algn="l"/>
            <a:endParaRPr lang="zh-CN" altLang="en-US" sz="1800" spc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913765"/>
            <a:ext cx="8486775" cy="1419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2554605"/>
            <a:ext cx="7966710" cy="10674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" y="4587240"/>
            <a:ext cx="9915525" cy="109537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H="1">
            <a:off x="1915795" y="3736975"/>
            <a:ext cx="6350" cy="77343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064385" y="3782060"/>
            <a:ext cx="64725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在监视窗口输入</a:t>
            </a:r>
            <a:r>
              <a:rPr lang="en-US" altLang="zh-CN"/>
              <a:t>danger</a:t>
            </a:r>
            <a:r>
              <a:rPr lang="zh-CN" altLang="en-US"/>
              <a:t>和</a:t>
            </a:r>
            <a:r>
              <a:rPr lang="en-US" altLang="zh-CN"/>
              <a:t>*danger</a:t>
            </a:r>
            <a:r>
              <a:rPr lang="zh-CN" altLang="en-US"/>
              <a:t>，运行这句话以后可以得到地址</a:t>
            </a:r>
            <a:r>
              <a:rPr lang="en-US" altLang="zh-CN"/>
              <a:t>danger</a:t>
            </a:r>
            <a:r>
              <a:rPr lang="zh-CN" altLang="en-US"/>
              <a:t>，但是由于越界，</a:t>
            </a:r>
            <a:r>
              <a:rPr lang="en-US" altLang="zh-CN"/>
              <a:t>*danger</a:t>
            </a:r>
            <a:r>
              <a:rPr lang="zh-CN" altLang="en-US"/>
              <a:t>的值是</a:t>
            </a:r>
            <a:r>
              <a:rPr lang="zh-CN" altLang="en-US"/>
              <a:t>乱码。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4240</Words>
  <Application>WPS 演示</Application>
  <PresentationFormat>宽屏</PresentationFormat>
  <Paragraphs>271</Paragraphs>
  <Slides>28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foulen</cp:lastModifiedBy>
  <cp:revision>161</cp:revision>
  <dcterms:created xsi:type="dcterms:W3CDTF">2019-06-19T02:08:00Z</dcterms:created>
  <dcterms:modified xsi:type="dcterms:W3CDTF">2025-06-01T07:42:18Z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33A399CAB5424037B5D6B56B819E070B_11</vt:lpwstr>
  </property>
</Properties>
</file>