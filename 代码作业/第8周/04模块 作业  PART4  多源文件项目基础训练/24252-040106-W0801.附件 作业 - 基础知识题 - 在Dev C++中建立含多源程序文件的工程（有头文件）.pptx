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20" r:id="rId3"/>
    <p:sldId id="321" r:id="rId4"/>
    <p:sldId id="322" r:id="rId5"/>
    <p:sldId id="323" r:id="rId6"/>
    <p:sldId id="324" r:id="rId7"/>
    <p:sldId id="325" r:id="rId8"/>
    <p:sldId id="326" r:id="rId9"/>
    <p:sldId id="328" r:id="rId10"/>
    <p:sldId id="329" r:id="rId11"/>
    <p:sldId id="33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75437-4699-47F9-A686-DED7CC3F8E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96B26F-9610-4908-87F1-F29EAB186E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6E774-9277-40A1-B2CC-3E944505D7F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D9684-C46B-4BF4-8B5A-3376AE2179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6D29B-5108-4EBC-9D13-1AFB01FA7B4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4531F-4CEB-4F1D-9C5A-36080892E3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26C11-97E6-4909-AB2A-0C053F5881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522C3-E170-468B-881C-411E80AC5B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11B0F-3F6B-46DA-A01B-CFA3105492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72D5A-4D27-41BE-B271-80E8FCA205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D41B23-05F2-4755-A73B-1D1DC854B8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2A16CB87-8DF2-4E49-B551-ABC2812E454C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在</a:t>
            </a:r>
            <a:r>
              <a:rPr lang="en-US" altLang="zh-CN" sz="2800" b="1" dirty="0">
                <a:latin typeface="+mn-ea"/>
              </a:rPr>
              <a:t>Dev C++</a:t>
            </a:r>
            <a:r>
              <a:rPr lang="zh-CN" altLang="en-US" sz="2800" b="1" dirty="0">
                <a:latin typeface="+mn-ea"/>
              </a:rPr>
              <a:t>中建立含多源程序文件的项目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有头文件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以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调用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为例，要求将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和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放在两个不同的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源程序文件中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项目名称：</a:t>
            </a:r>
            <a:r>
              <a:rPr lang="en-US" altLang="zh-CN" sz="2800" b="1" dirty="0" err="1">
                <a:latin typeface="+mn-ea"/>
              </a:rPr>
              <a:t>ex_with_h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源程序名：</a:t>
            </a:r>
            <a:r>
              <a:rPr lang="en-US" altLang="zh-CN" sz="2800" b="1" dirty="0">
                <a:latin typeface="+mn-ea"/>
              </a:rPr>
              <a:t>ex3.cpp  (main</a:t>
            </a:r>
            <a:r>
              <a:rPr lang="zh-CN" altLang="en-US" sz="2800" b="1" dirty="0">
                <a:latin typeface="+mn-ea"/>
              </a:rPr>
              <a:t>函数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          ex4.cpp  (max</a:t>
            </a:r>
            <a:r>
              <a:rPr lang="zh-CN" altLang="en-US" sz="2800" b="1" dirty="0">
                <a:latin typeface="+mn-ea"/>
              </a:rPr>
              <a:t>函数的实现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头文件名：</a:t>
            </a:r>
            <a:r>
              <a:rPr lang="en-US" altLang="zh-CN" sz="2800" b="1" dirty="0" err="1">
                <a:latin typeface="+mn-ea"/>
              </a:rPr>
              <a:t>ex.h</a:t>
            </a:r>
            <a:r>
              <a:rPr lang="en-US" altLang="zh-CN" sz="2800" b="1" dirty="0">
                <a:latin typeface="+mn-ea"/>
              </a:rPr>
              <a:t>     (max</a:t>
            </a:r>
            <a:r>
              <a:rPr lang="zh-CN" altLang="en-US" sz="2800" b="1" dirty="0">
                <a:latin typeface="+mn-ea"/>
              </a:rPr>
              <a:t>函数的声明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注：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本文档描述的是建立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的项目文件，然后将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已调试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通过的多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文件放入项目中，而不是新建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2.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单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文件编译为可执行文件，在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中既可以建项目文件，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也可以不建项目，之前的做法都是不建项目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  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还想看？这是你的作业哦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  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要求：仿照下发的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PDF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文档格式，按步骤截图说明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0185" y="163195"/>
            <a:ext cx="11067415" cy="5932805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+mn-ea"/>
                <a:cs typeface="+mn-ea"/>
              </a:rPr>
              <a:t>1.</a:t>
            </a:r>
            <a:r>
              <a:rPr lang="zh-CN" altLang="en-US">
                <a:latin typeface="+mn-ea"/>
                <a:cs typeface="+mn-ea"/>
              </a:rPr>
              <a:t>启动</a:t>
            </a:r>
            <a:r>
              <a:rPr lang="en-US" altLang="zh-CN">
                <a:latin typeface="+mn-ea"/>
                <a:cs typeface="+mn-ea"/>
              </a:rPr>
              <a:t>Dev C++</a:t>
            </a:r>
            <a:r>
              <a:rPr lang="zh-CN" altLang="en-US">
                <a:latin typeface="+mn-ea"/>
                <a:cs typeface="+mn-ea"/>
              </a:rPr>
              <a:t>，选择</a:t>
            </a:r>
            <a:r>
              <a:rPr lang="en-US" altLang="zh-CN">
                <a:latin typeface="+mn-ea"/>
                <a:cs typeface="+mn-ea"/>
              </a:rPr>
              <a:t>“</a:t>
            </a:r>
            <a:r>
              <a:rPr lang="zh-CN" altLang="en-US">
                <a:latin typeface="+mn-ea"/>
                <a:cs typeface="+mn-ea"/>
              </a:rPr>
              <a:t>文件</a:t>
            </a:r>
            <a:r>
              <a:rPr lang="en-US" altLang="zh-CN">
                <a:latin typeface="+mn-ea"/>
                <a:cs typeface="+mn-ea"/>
              </a:rPr>
              <a:t>”</a:t>
            </a:r>
            <a:r>
              <a:rPr lang="zh-CN" altLang="en-US">
                <a:latin typeface="+mn-ea"/>
                <a:cs typeface="+mn-ea"/>
              </a:rPr>
              <a:t>菜单</a:t>
            </a:r>
            <a:r>
              <a:rPr lang="en-US" altLang="zh-CN">
                <a:latin typeface="+mn-ea"/>
                <a:cs typeface="+mn-ea"/>
              </a:rPr>
              <a:t>-“</a:t>
            </a:r>
            <a:r>
              <a:rPr lang="zh-CN" altLang="en-US">
                <a:latin typeface="+mn-ea"/>
                <a:cs typeface="+mn-ea"/>
              </a:rPr>
              <a:t>新建</a:t>
            </a:r>
            <a:r>
              <a:rPr lang="en-US" altLang="zh-CN">
                <a:latin typeface="+mn-ea"/>
                <a:cs typeface="+mn-ea"/>
              </a:rPr>
              <a:t>”-“</a:t>
            </a:r>
            <a:r>
              <a:rPr lang="zh-CN" altLang="en-US">
                <a:latin typeface="+mn-ea"/>
                <a:cs typeface="+mn-ea"/>
              </a:rPr>
              <a:t>项目</a:t>
            </a:r>
            <a:r>
              <a:rPr lang="en-US" altLang="zh-CN">
                <a:latin typeface="+mn-ea"/>
                <a:cs typeface="+mn-ea"/>
              </a:rPr>
              <a:t>”</a:t>
            </a:r>
            <a:endParaRPr lang="en-US" altLang="zh-CN">
              <a:latin typeface="+mn-ea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60" y="1621155"/>
            <a:ext cx="9201785" cy="390652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1669415" y="1311910"/>
            <a:ext cx="525780" cy="6178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840" y="238125"/>
            <a:ext cx="11160760" cy="5857875"/>
          </a:xfrm>
        </p:spPr>
        <p:txBody>
          <a:bodyPr/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在出现的对话框中，</a:t>
            </a:r>
            <a:r>
              <a:rPr lang="en-US" altLang="zh-CN"/>
              <a:t>“Basic” - “Console application”</a:t>
            </a:r>
            <a:r>
              <a:rPr lang="zh-CN" altLang="en-US"/>
              <a:t>，选择</a:t>
            </a:r>
            <a:r>
              <a:rPr lang="en-US" altLang="zh-CN"/>
              <a:t>“C++ </a:t>
            </a:r>
            <a:r>
              <a:rPr lang="zh-CN" altLang="en-US"/>
              <a:t>项目</a:t>
            </a:r>
            <a:r>
              <a:rPr lang="en-US" altLang="zh-CN"/>
              <a:t>”</a:t>
            </a:r>
            <a:r>
              <a:rPr lang="zh-CN" altLang="en-US"/>
              <a:t>，输入项目名称，按</a:t>
            </a:r>
            <a:r>
              <a:rPr lang="en-US" altLang="zh-CN"/>
              <a:t>“</a:t>
            </a:r>
            <a:r>
              <a:rPr lang="zh-CN" altLang="en-US"/>
              <a:t>确定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" y="1693545"/>
            <a:ext cx="7753350" cy="461962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2089150" y="1449705"/>
            <a:ext cx="680085" cy="5753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" name="直接箭头连接符 5"/>
          <p:cNvCxnSpPr/>
          <p:nvPr/>
        </p:nvCxnSpPr>
        <p:spPr>
          <a:xfrm flipH="1">
            <a:off x="3486150" y="2049145"/>
            <a:ext cx="365125" cy="6616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" name="直接箭头连接符 6"/>
          <p:cNvCxnSpPr/>
          <p:nvPr/>
        </p:nvCxnSpPr>
        <p:spPr>
          <a:xfrm flipH="1">
            <a:off x="7183755" y="3885565"/>
            <a:ext cx="395605" cy="7232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 flipH="1">
            <a:off x="2305685" y="4689475"/>
            <a:ext cx="438785" cy="7353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直接箭头连接符 8"/>
          <p:cNvCxnSpPr/>
          <p:nvPr/>
        </p:nvCxnSpPr>
        <p:spPr>
          <a:xfrm>
            <a:off x="5285740" y="5276850"/>
            <a:ext cx="450850" cy="5994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840" y="232410"/>
            <a:ext cx="10363200" cy="1143000"/>
          </a:xfrm>
        </p:spPr>
        <p:txBody>
          <a:bodyPr/>
          <a:p>
            <a:pPr algn="l"/>
            <a:r>
              <a:rPr lang="en-US" altLang="zh-CN" sz="3200">
                <a:sym typeface="+mn-ea"/>
              </a:rPr>
              <a:t>3.</a:t>
            </a:r>
            <a:r>
              <a:rPr lang="zh-CN" altLang="en-US" sz="3200">
                <a:sym typeface="+mn-ea"/>
              </a:rPr>
              <a:t>在出现的对话框中选择项目文件存放目录，按</a:t>
            </a:r>
            <a:r>
              <a:rPr lang="en-US" altLang="zh-CN" sz="3200">
                <a:sym typeface="+mn-ea"/>
              </a:rPr>
              <a:t>“</a:t>
            </a:r>
            <a:r>
              <a:rPr lang="zh-CN" altLang="en-US" sz="3200">
                <a:sym typeface="+mn-ea"/>
              </a:rPr>
              <a:t>保存</a:t>
            </a:r>
            <a:r>
              <a:rPr lang="en-US" altLang="zh-CN" sz="3200">
                <a:sym typeface="+mn-ea"/>
              </a:rPr>
              <a:t>”</a:t>
            </a:r>
            <a:endParaRPr lang="en-US" altLang="zh-CN" sz="3200"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37910" y="2265680"/>
            <a:ext cx="5797550" cy="3150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1784350"/>
            <a:ext cx="5194300" cy="421513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2732405" y="2210435"/>
            <a:ext cx="3369310" cy="1974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9" name="椭圆 8"/>
          <p:cNvSpPr/>
          <p:nvPr/>
        </p:nvSpPr>
        <p:spPr>
          <a:xfrm>
            <a:off x="1626870" y="2055495"/>
            <a:ext cx="1068705" cy="31559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169660" y="2211070"/>
            <a:ext cx="1031240" cy="4318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78965" y="3242945"/>
            <a:ext cx="349250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选择项目文件的保存位置，要求选择</a:t>
            </a:r>
            <a:r>
              <a:rPr lang="en-US" altLang="zh-CN">
                <a:solidFill>
                  <a:srgbClr val="FF0000"/>
                </a:solidFill>
              </a:rPr>
              <a:t>VS2022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>
                <a:solidFill>
                  <a:srgbClr val="FF0000"/>
                </a:solidFill>
              </a:rPr>
              <a:t>ex_with_h</a:t>
            </a:r>
            <a:r>
              <a:rPr lang="zh-CN" altLang="en-US">
                <a:solidFill>
                  <a:srgbClr val="FF0000"/>
                </a:solidFill>
              </a:rPr>
              <a:t>项目的对应文件夹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827905" y="4244340"/>
            <a:ext cx="513080" cy="8782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840" y="232410"/>
            <a:ext cx="10363200" cy="1143000"/>
          </a:xfrm>
        </p:spPr>
        <p:txBody>
          <a:bodyPr/>
          <a:p>
            <a:pPr algn="l"/>
            <a:r>
              <a:rPr lang="en-US" altLang="zh-CN" sz="3200">
                <a:latin typeface="+mn-ea"/>
                <a:ea typeface="+mn-ea"/>
              </a:rPr>
              <a:t>4.</a:t>
            </a:r>
            <a:r>
              <a:rPr lang="zh-CN" altLang="en-US" sz="3200">
                <a:latin typeface="+mn-ea"/>
                <a:ea typeface="+mn-ea"/>
              </a:rPr>
              <a:t>选中</a:t>
            </a:r>
            <a:r>
              <a:rPr lang="en-US" altLang="zh-CN" sz="3200">
                <a:latin typeface="+mn-ea"/>
                <a:ea typeface="+mn-ea"/>
              </a:rPr>
              <a:t>main.cpp - </a:t>
            </a:r>
            <a:r>
              <a:rPr lang="zh-CN" altLang="en-US" sz="3200">
                <a:latin typeface="+mn-ea"/>
                <a:ea typeface="+mn-ea"/>
              </a:rPr>
              <a:t>右键菜单</a:t>
            </a:r>
            <a:r>
              <a:rPr lang="en-US" altLang="zh-CN" sz="3200">
                <a:latin typeface="+mn-ea"/>
                <a:ea typeface="+mn-ea"/>
              </a:rPr>
              <a:t> - </a:t>
            </a:r>
            <a:r>
              <a:rPr lang="zh-CN" altLang="en-US" sz="3200">
                <a:latin typeface="+mn-ea"/>
                <a:ea typeface="+mn-ea"/>
              </a:rPr>
              <a:t>选择移除文件，在弹出对话框中选择</a:t>
            </a:r>
            <a:r>
              <a:rPr lang="en-US" altLang="zh-CN" sz="3200">
                <a:latin typeface="+mn-ea"/>
                <a:ea typeface="+mn-ea"/>
              </a:rPr>
              <a:t>“NO”</a:t>
            </a:r>
            <a:r>
              <a:rPr lang="zh-CN" altLang="en-US" sz="3200">
                <a:latin typeface="+mn-ea"/>
                <a:ea typeface="+mn-ea"/>
              </a:rPr>
              <a:t>。</a:t>
            </a:r>
            <a:endParaRPr lang="zh-CN" altLang="en-US" sz="3200">
              <a:latin typeface="+mn-ea"/>
              <a:ea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6840" y="1410335"/>
            <a:ext cx="10175875" cy="396494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945515" y="1838960"/>
            <a:ext cx="314960" cy="4826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" name="直接箭头连接符 5"/>
          <p:cNvCxnSpPr/>
          <p:nvPr/>
        </p:nvCxnSpPr>
        <p:spPr>
          <a:xfrm flipH="1">
            <a:off x="1384300" y="2012315"/>
            <a:ext cx="537845" cy="5257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235" y="3102610"/>
            <a:ext cx="3149600" cy="144462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5471160" y="3360420"/>
            <a:ext cx="395605" cy="66103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955" y="4021455"/>
            <a:ext cx="4477385" cy="248285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5168265" y="4856480"/>
            <a:ext cx="1489710" cy="6121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725" y="127635"/>
            <a:ext cx="10363200" cy="1143000"/>
          </a:xfrm>
        </p:spPr>
        <p:txBody>
          <a:bodyPr/>
          <a:p>
            <a:pPr algn="l"/>
            <a:r>
              <a:rPr lang="en-US" altLang="zh-CN" sz="3200">
                <a:latin typeface="+mn-ea"/>
                <a:ea typeface="+mn-ea"/>
              </a:rPr>
              <a:t>5.</a:t>
            </a:r>
            <a:r>
              <a:rPr lang="zh-CN" altLang="en-US" sz="3200">
                <a:latin typeface="+mn-ea"/>
                <a:ea typeface="+mn-ea"/>
              </a:rPr>
              <a:t>选中项目</a:t>
            </a:r>
            <a:r>
              <a:rPr lang="en-US" altLang="zh-CN" sz="3200">
                <a:latin typeface="+mn-ea"/>
                <a:ea typeface="+mn-ea"/>
              </a:rPr>
              <a:t> - </a:t>
            </a:r>
            <a:r>
              <a:rPr lang="zh-CN" altLang="en-US" sz="3200">
                <a:latin typeface="+mn-ea"/>
                <a:ea typeface="+mn-ea"/>
              </a:rPr>
              <a:t>右键菜单</a:t>
            </a:r>
            <a:r>
              <a:rPr lang="en-US" altLang="zh-CN" sz="3200">
                <a:latin typeface="+mn-ea"/>
                <a:ea typeface="+mn-ea"/>
              </a:rPr>
              <a:t> - “</a:t>
            </a:r>
            <a:r>
              <a:rPr lang="zh-CN" altLang="en-US" sz="3200">
                <a:latin typeface="+mn-ea"/>
                <a:ea typeface="+mn-ea"/>
              </a:rPr>
              <a:t>添加</a:t>
            </a:r>
            <a:r>
              <a:rPr lang="en-US" altLang="zh-CN" sz="3200">
                <a:latin typeface="+mn-ea"/>
                <a:ea typeface="+mn-ea"/>
              </a:rPr>
              <a:t>” </a:t>
            </a:r>
            <a:r>
              <a:rPr lang="zh-CN" altLang="en-US" sz="3200">
                <a:latin typeface="+mn-ea"/>
                <a:ea typeface="+mn-ea"/>
              </a:rPr>
              <a:t>同时选中</a:t>
            </a:r>
            <a:r>
              <a:rPr lang="en-US" altLang="zh-CN" sz="3200">
                <a:latin typeface="+mn-ea"/>
                <a:ea typeface="+mn-ea"/>
              </a:rPr>
              <a:t>ex3.cpp</a:t>
            </a:r>
            <a:r>
              <a:rPr lang="zh-CN" altLang="en-US" sz="3200">
                <a:latin typeface="+mn-ea"/>
                <a:ea typeface="+mn-ea"/>
              </a:rPr>
              <a:t>，</a:t>
            </a:r>
            <a:r>
              <a:rPr lang="en-US" altLang="zh-CN" sz="3200">
                <a:latin typeface="+mn-ea"/>
                <a:ea typeface="+mn-ea"/>
              </a:rPr>
              <a:t>ex4.cpp</a:t>
            </a:r>
            <a:r>
              <a:rPr lang="zh-CN" altLang="en-US" sz="3200">
                <a:latin typeface="+mn-ea"/>
                <a:ea typeface="+mn-ea"/>
              </a:rPr>
              <a:t>和</a:t>
            </a:r>
            <a:r>
              <a:rPr lang="en-US" altLang="zh-CN" sz="3200">
                <a:latin typeface="+mn-ea"/>
                <a:ea typeface="+mn-ea"/>
              </a:rPr>
              <a:t>ex.h,</a:t>
            </a:r>
            <a:r>
              <a:rPr lang="zh-CN" altLang="en-US" sz="3200">
                <a:latin typeface="+mn-ea"/>
                <a:ea typeface="+mn-ea"/>
              </a:rPr>
              <a:t>按</a:t>
            </a:r>
            <a:r>
              <a:rPr lang="en-US" altLang="zh-CN" sz="3200">
                <a:latin typeface="+mn-ea"/>
                <a:ea typeface="+mn-ea"/>
              </a:rPr>
              <a:t>“</a:t>
            </a:r>
            <a:r>
              <a:rPr lang="zh-CN" altLang="en-US" sz="3200">
                <a:latin typeface="+mn-ea"/>
                <a:ea typeface="+mn-ea"/>
              </a:rPr>
              <a:t>打开</a:t>
            </a:r>
            <a:r>
              <a:rPr lang="en-US" altLang="zh-CN" sz="3200">
                <a:latin typeface="+mn-ea"/>
                <a:ea typeface="+mn-ea"/>
              </a:rPr>
              <a:t>”</a:t>
            </a:r>
            <a:endParaRPr lang="en-US" altLang="zh-CN" sz="3200">
              <a:latin typeface="+mn-ea"/>
              <a:ea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0830" y="1613535"/>
            <a:ext cx="5477510" cy="4114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870" y="1613535"/>
            <a:ext cx="5313680" cy="444373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1069340" y="2333625"/>
            <a:ext cx="382905" cy="6616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 flipH="1">
            <a:off x="3016250" y="2686050"/>
            <a:ext cx="401955" cy="6553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直接箭头连接符 8"/>
          <p:cNvCxnSpPr/>
          <p:nvPr/>
        </p:nvCxnSpPr>
        <p:spPr>
          <a:xfrm flipH="1">
            <a:off x="8265795" y="2228850"/>
            <a:ext cx="308610" cy="457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" name="直接箭头连接符 9"/>
          <p:cNvCxnSpPr/>
          <p:nvPr/>
        </p:nvCxnSpPr>
        <p:spPr>
          <a:xfrm flipH="1">
            <a:off x="8772525" y="3656965"/>
            <a:ext cx="185420" cy="2101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直接箭头连接符 10"/>
          <p:cNvCxnSpPr/>
          <p:nvPr/>
        </p:nvCxnSpPr>
        <p:spPr>
          <a:xfrm flipH="1" flipV="1">
            <a:off x="8605520" y="4423410"/>
            <a:ext cx="321310" cy="20383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/>
          <p:nvPr/>
        </p:nvCxnSpPr>
        <p:spPr>
          <a:xfrm flipH="1">
            <a:off x="10760710" y="4791710"/>
            <a:ext cx="308610" cy="457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840" y="232410"/>
            <a:ext cx="10363200" cy="1143000"/>
          </a:xfrm>
        </p:spPr>
        <p:txBody>
          <a:bodyPr/>
          <a:p>
            <a:pPr algn="l"/>
            <a:r>
              <a:rPr lang="en-US" altLang="zh-CN" sz="3200">
                <a:latin typeface="+mn-ea"/>
                <a:ea typeface="+mn-ea"/>
              </a:rPr>
              <a:t>6.</a:t>
            </a:r>
            <a:r>
              <a:rPr lang="zh-CN" altLang="en-US" sz="3200">
                <a:latin typeface="+mn-ea"/>
                <a:ea typeface="+mn-ea"/>
              </a:rPr>
              <a:t>文件添加成功，可以看到两个</a:t>
            </a:r>
            <a:r>
              <a:rPr lang="en-US" altLang="zh-CN" sz="3200">
                <a:latin typeface="+mn-ea"/>
                <a:ea typeface="+mn-ea"/>
              </a:rPr>
              <a:t>cpp</a:t>
            </a:r>
            <a:r>
              <a:rPr lang="zh-CN" altLang="en-US" sz="3200">
                <a:latin typeface="+mn-ea"/>
                <a:ea typeface="+mn-ea"/>
              </a:rPr>
              <a:t>和一个</a:t>
            </a:r>
            <a:r>
              <a:rPr lang="en-US" altLang="zh-CN" sz="3200">
                <a:latin typeface="+mn-ea"/>
                <a:ea typeface="+mn-ea"/>
              </a:rPr>
              <a:t>h</a:t>
            </a:r>
            <a:r>
              <a:rPr lang="zh-CN" altLang="en-US" sz="3200">
                <a:latin typeface="+mn-ea"/>
                <a:ea typeface="+mn-ea"/>
              </a:rPr>
              <a:t>，单击打开文件，并在右侧编辑</a:t>
            </a:r>
            <a:r>
              <a:rPr lang="zh-CN" altLang="en-US" sz="3200">
                <a:latin typeface="+mn-ea"/>
                <a:ea typeface="+mn-ea"/>
              </a:rPr>
              <a:t>查看。</a:t>
            </a:r>
            <a:endParaRPr lang="zh-CN" altLang="en-US" sz="3200">
              <a:latin typeface="+mn-ea"/>
              <a:ea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895985" y="2494915"/>
            <a:ext cx="587375" cy="3581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95" y="1264285"/>
            <a:ext cx="9850120" cy="5109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840" y="232410"/>
            <a:ext cx="10363200" cy="1143000"/>
          </a:xfrm>
        </p:spPr>
        <p:txBody>
          <a:bodyPr/>
          <a:p>
            <a:pPr algn="l"/>
            <a:r>
              <a:rPr lang="en-US" altLang="zh-CN" sz="3200">
                <a:latin typeface="+mn-ea"/>
                <a:ea typeface="+mn-ea"/>
              </a:rPr>
              <a:t>6.</a:t>
            </a:r>
            <a:r>
              <a:rPr lang="zh-CN" altLang="en-US" sz="3200">
                <a:latin typeface="+mn-ea"/>
                <a:ea typeface="+mn-ea"/>
              </a:rPr>
              <a:t>按</a:t>
            </a:r>
            <a:r>
              <a:rPr lang="en-US" altLang="zh-CN" sz="3200">
                <a:latin typeface="+mn-ea"/>
                <a:ea typeface="+mn-ea"/>
              </a:rPr>
              <a:t>“F11”</a:t>
            </a:r>
            <a:r>
              <a:rPr lang="zh-CN" altLang="en-US" sz="3200">
                <a:latin typeface="+mn-ea"/>
                <a:ea typeface="+mn-ea"/>
              </a:rPr>
              <a:t>键，运行程序</a:t>
            </a:r>
            <a:r>
              <a:rPr lang="zh-CN" altLang="en-US" sz="3200">
                <a:latin typeface="+mn-ea"/>
                <a:ea typeface="+mn-ea"/>
              </a:rPr>
              <a:t>并观察结果。</a:t>
            </a:r>
            <a:endParaRPr lang="zh-CN" altLang="en-US" sz="32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190" y="1325880"/>
            <a:ext cx="9850120" cy="51098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3541395"/>
            <a:ext cx="3982085" cy="13849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840" y="232410"/>
            <a:ext cx="10363200" cy="1143000"/>
          </a:xfrm>
        </p:spPr>
        <p:txBody>
          <a:bodyPr/>
          <a:p>
            <a:pPr algn="l"/>
            <a:r>
              <a:rPr lang="en-US" altLang="zh-CN" sz="3200">
                <a:latin typeface="+mn-ea"/>
                <a:ea typeface="+mn-ea"/>
              </a:rPr>
              <a:t>7.</a:t>
            </a:r>
            <a:r>
              <a:rPr lang="zh-CN" altLang="en-US" sz="3200">
                <a:latin typeface="+mn-ea"/>
                <a:ea typeface="+mn-ea"/>
              </a:rPr>
              <a:t>退出</a:t>
            </a:r>
            <a:r>
              <a:rPr lang="en-US" altLang="zh-CN" sz="3200">
                <a:latin typeface="+mn-ea"/>
                <a:ea typeface="+mn-ea"/>
              </a:rPr>
              <a:t>Dev C++</a:t>
            </a:r>
            <a:r>
              <a:rPr lang="zh-CN" altLang="en-US" sz="3200">
                <a:latin typeface="+mn-ea"/>
                <a:ea typeface="+mn-ea"/>
              </a:rPr>
              <a:t>后，再次双击</a:t>
            </a:r>
            <a:r>
              <a:rPr lang="en-US" altLang="zh-CN" sz="3200">
                <a:latin typeface="+mn-ea"/>
                <a:ea typeface="+mn-ea"/>
              </a:rPr>
              <a:t>*.dev </a:t>
            </a:r>
            <a:r>
              <a:rPr lang="zh-CN" altLang="en-US" sz="3200">
                <a:latin typeface="+mn-ea"/>
                <a:ea typeface="+mn-ea"/>
              </a:rPr>
              <a:t>图标，即可再次打开</a:t>
            </a:r>
            <a:r>
              <a:rPr lang="zh-CN" altLang="en-US" sz="3200">
                <a:latin typeface="+mn-ea"/>
                <a:ea typeface="+mn-ea"/>
              </a:rPr>
              <a:t>该项目。</a:t>
            </a:r>
            <a:endParaRPr lang="zh-CN" altLang="en-US" sz="32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405" y="1048385"/>
            <a:ext cx="7342505" cy="509270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2348865" y="3761740"/>
            <a:ext cx="655320" cy="2794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" name="直接箭头连接符 4"/>
          <p:cNvCxnSpPr/>
          <p:nvPr/>
        </p:nvCxnSpPr>
        <p:spPr>
          <a:xfrm>
            <a:off x="2426335" y="4885055"/>
            <a:ext cx="655320" cy="2794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WPS 演示</Application>
  <PresentationFormat>宽屏</PresentationFormat>
  <Paragraphs>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3.在出现的对话框中选择项目文件存放目录，按“保存”</vt:lpstr>
      <vt:lpstr>4.选中main.cpp - 右键菜单 - 选择移除文件，在弹出对话框中选择“NO”。</vt:lpstr>
      <vt:lpstr>5.选中项目 - 右键菜单 - “添加” 同时选中ex3.cpp，ex4.cpp和ex.h,按“打开”</vt:lpstr>
      <vt:lpstr>6.文件添加成功，可以看到两个cpp和一个h，单击打开文件，并在右侧编辑查看。</vt:lpstr>
      <vt:lpstr>6.按“F11”键，运行程序并观察结果。</vt:lpstr>
      <vt:lpstr>7.退出Dev C++后，再次双击*.dev 图标，即可再次打开该项目。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foulen</cp:lastModifiedBy>
  <cp:revision>20</cp:revision>
  <dcterms:created xsi:type="dcterms:W3CDTF">2020-08-13T13:39:00Z</dcterms:created>
  <dcterms:modified xsi:type="dcterms:W3CDTF">2025-04-23T13:07:02Z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46F17E5190C4420ABEFDF46C4952B532_12</vt:lpwstr>
  </property>
  <property fmtid="{D5CDD505-2E9C-101B-9397-08002B2CF9AE}" pid="3" name="KSOProductBuildVer">
    <vt:lpwstr>2052-12.1.0.20784</vt:lpwstr>
  </property>
</Properties>
</file>